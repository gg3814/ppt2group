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7" r:id="rId2"/>
    <p:sldId id="313" r:id="rId3"/>
    <p:sldId id="314" r:id="rId4"/>
    <p:sldId id="315" r:id="rId5"/>
    <p:sldId id="317" r:id="rId6"/>
    <p:sldId id="316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56" r:id="rId46"/>
    <p:sldId id="357" r:id="rId47"/>
    <p:sldId id="358" r:id="rId48"/>
    <p:sldId id="359" r:id="rId49"/>
  </p:sldIdLst>
  <p:sldSz cx="9144000" cy="6858000" type="screen4x3"/>
  <p:notesSz cx="6648450" cy="97821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>
          <p15:clr>
            <a:srgbClr val="A4A3A4"/>
          </p15:clr>
        </p15:guide>
        <p15:guide id="2" pos="1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00CC"/>
    <a:srgbClr val="6600FF"/>
    <a:srgbClr val="FFFF00"/>
    <a:srgbClr val="CCFFFF"/>
    <a:srgbClr val="CCECFF"/>
    <a:srgbClr val="0000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113" autoAdjust="0"/>
    <p:restoredTop sz="90929"/>
  </p:normalViewPr>
  <p:slideViewPr>
    <p:cSldViewPr>
      <p:cViewPr varScale="1">
        <p:scale>
          <a:sx n="75" d="100"/>
          <a:sy n="75" d="100"/>
        </p:scale>
        <p:origin x="1356" y="72"/>
      </p:cViewPr>
      <p:guideLst>
        <p:guide orient="horz" pos="1104"/>
        <p:guide pos="19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8.xml"/><Relationship Id="rId2" Type="http://schemas.openxmlformats.org/officeDocument/2006/relationships/slide" Target="slides/slide33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ADDF8CF-DD56-4B4C-8FB3-34255C23FF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A25FC4B-11D2-4FC8-BE5B-14E2BFCE72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73B9A08F-C016-4D7B-AD7A-8AC36BB9607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4A0BD5BF-A5E5-45E4-8156-7A26DC49059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7AB789B7-799D-4444-8244-99B977A0CCE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BA1B896-BFF3-4AD4-A4C3-05D0CCC5F1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D3293D1-8270-46C9-999D-FDD92CF672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7F9E33C1-DD9A-40BD-9042-9E0AFD27EF4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92675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2E2982EB-48EC-4669-ACA1-055D736D64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466516DB-D6D4-4783-B59F-0C15FEA449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F00C7C1E-3582-41B4-9B87-7ED4CEE23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B59C8138-AA7D-496A-8930-A1C59D499A2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photo.empas.com/empasphoto003/1000324/photo_incview2.tsp?psn=5427&amp;pre=photo_view2.html?psn=5427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">
            <a:extLst>
              <a:ext uri="{FF2B5EF4-FFF2-40B4-BE49-F238E27FC236}">
                <a16:creationId xmlns:a16="http://schemas.microsoft.com/office/drawing/2014/main" id="{2865D3F3-0535-48CA-929C-41706CE3F5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2088" y="295275"/>
            <a:ext cx="8772525" cy="6202363"/>
          </a:xfrm>
          <a:prstGeom prst="rect">
            <a:avLst/>
          </a:prstGeom>
          <a:solidFill>
            <a:srgbClr val="CCFFFF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63D7EE0-2376-4F97-92BA-1D2DF31E6F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9700" y="228600"/>
            <a:ext cx="8882063" cy="63246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E94E2C92-D272-489D-8A7A-339FBF561CF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914650" y="1389063"/>
            <a:ext cx="9144000" cy="0"/>
            <a:chOff x="0" y="0"/>
            <a:chExt cx="0" cy="0"/>
          </a:xfrm>
        </p:grpSpPr>
        <p:sp>
          <p:nvSpPr>
            <p:cNvPr id="6" name="Rectangle 17">
              <a:extLst>
                <a:ext uri="{FF2B5EF4-FFF2-40B4-BE49-F238E27FC236}">
                  <a16:creationId xmlns:a16="http://schemas.microsoft.com/office/drawing/2014/main" id="{492DFE37-DF33-485E-9CC3-18245D534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0" cy="0"/>
            </a:xfrm>
            <a:prstGeom prst="rect">
              <a:avLst/>
            </a:prstGeom>
            <a:solidFill>
              <a:srgbClr val="F7F7F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" name="Rectangle 16">
              <a:extLst>
                <a:ext uri="{FF2B5EF4-FFF2-40B4-BE49-F238E27FC236}">
                  <a16:creationId xmlns:a16="http://schemas.microsoft.com/office/drawing/2014/main" id="{04E9BEE1-CC95-4DDF-B760-D5853BEB9B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0" cy="0"/>
            </a:xfrm>
            <a:prstGeom prst="rect">
              <a:avLst/>
            </a:prstGeom>
            <a:solidFill>
              <a:srgbClr val="F7F7F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ko-KR" altLang="en-US"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8" name="Rectangle 19">
            <a:extLst>
              <a:ext uri="{FF2B5EF4-FFF2-40B4-BE49-F238E27FC236}">
                <a16:creationId xmlns:a16="http://schemas.microsoft.com/office/drawing/2014/main" id="{1DFFBFAC-1EDA-4867-8068-651ECA450A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914650" y="1389063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9" name="Picture 15" descr="연필꽂이-클립아트">
            <a:hlinkClick r:id="rId2"/>
            <a:extLst>
              <a:ext uri="{FF2B5EF4-FFF2-40B4-BE49-F238E27FC236}">
                <a16:creationId xmlns:a16="http://schemas.microsoft.com/office/drawing/2014/main" id="{6935C7C6-699E-4FBD-BD10-F49A7BF0BC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609600"/>
            <a:ext cx="1981200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743200"/>
            <a:ext cx="7772400" cy="1143000"/>
          </a:xfrm>
          <a:noFill/>
          <a:ln>
            <a:noFill/>
          </a:ln>
          <a:effectLst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4372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5972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3753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04800" y="1752600"/>
            <a:ext cx="4191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1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470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4641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3832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2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8494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01217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1305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05600" y="381000"/>
            <a:ext cx="2133600" cy="5791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248400" cy="5791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1172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270DE62-999D-41DF-BDF5-17421BBB0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7772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BF02AA5-8E55-471E-BEA9-F0B484FAE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52600"/>
            <a:ext cx="853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BE3BA4FE-F736-4A45-BC48-AE86153650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34400" y="6426200"/>
            <a:ext cx="4000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eaLnBrk="1" hangingPunct="1"/>
            <a:fld id="{5C0726CC-5A09-4EF6-A1E2-16643AD6136A}" type="slidenum">
              <a:rPr lang="en-US" altLang="ko-KR" sz="1200">
                <a:latin typeface="굴림" panose="020B0503020000020004" pitchFamily="34" charset="-127"/>
                <a:ea typeface="굴림" panose="020B0503020000020004" pitchFamily="34" charset="-127"/>
              </a:rPr>
              <a:pPr eaLnBrk="1" hangingPunct="1"/>
              <a:t>‹#›</a:t>
            </a:fld>
            <a:endParaRPr lang="en-US" altLang="ko-KR" sz="1200">
              <a:latin typeface="굴림" panose="020B0503020000020004" pitchFamily="34" charset="-127"/>
              <a:ea typeface="굴림" panose="020B0503020000020004" pitchFamily="34" charset="-127"/>
            </a:endParaRPr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64007EDC-A12A-4F83-A06B-92C3A0B047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396038"/>
            <a:ext cx="2663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i="1">
                <a:latin typeface="돋움" pitchFamily="50" charset="-127"/>
                <a:ea typeface="돋움" pitchFamily="50" charset="-127"/>
              </a:rPr>
              <a:t>1</a:t>
            </a:r>
            <a:r>
              <a:rPr lang="ko-KR" altLang="en-US" sz="1400" i="1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400" i="1">
                <a:latin typeface="돋움" pitchFamily="50" charset="-127"/>
                <a:ea typeface="돋움" pitchFamily="50" charset="-127"/>
              </a:rPr>
              <a:t>. </a:t>
            </a:r>
            <a:r>
              <a:rPr lang="ko-KR" altLang="en-US" sz="1400" i="1">
                <a:latin typeface="돋움" pitchFamily="50" charset="-127"/>
                <a:ea typeface="돋움" pitchFamily="50" charset="-127"/>
              </a:rPr>
              <a:t>관계형 데이터베이스 개요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466AD7DC-D907-44F0-8BE0-84E7EFB32D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300" y="76200"/>
            <a:ext cx="8882063" cy="63246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6E604380-3070-4C96-BB87-71DF46BC3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688" y="142875"/>
            <a:ext cx="8772525" cy="6202363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kumimoji="1"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2870DC-A56B-4259-81CF-485F244FEC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altLang="ko-KR" sz="3900"/>
              <a:t>1</a:t>
            </a:r>
            <a:r>
              <a:rPr lang="ko-KR" altLang="en-US" sz="3900"/>
              <a:t>장</a:t>
            </a:r>
            <a:r>
              <a:rPr lang="en-US" altLang="ko-KR" sz="3900"/>
              <a:t>. </a:t>
            </a:r>
            <a:r>
              <a:rPr lang="ko-KR" altLang="en-US" sz="3900"/>
              <a:t>관계형 데이터베이스의</a:t>
            </a:r>
            <a:br>
              <a:rPr lang="ko-KR" altLang="en-US" sz="3900"/>
            </a:br>
            <a:r>
              <a:rPr lang="ko-KR" altLang="en-US" sz="3900"/>
              <a:t> 주요 개념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36E3014-2BA2-4DE0-9705-CB78EE9FF53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819400" y="4267200"/>
            <a:ext cx="3810000" cy="1981200"/>
          </a:xfrm>
          <a:solidFill>
            <a:srgbClr val="CCFFFF"/>
          </a:solidFill>
          <a:ln>
            <a:solidFill>
              <a:schemeClr val="accent2"/>
            </a:solidFill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marL="0" indent="0" eaLnBrk="1" hangingPunct="1">
              <a:defRPr/>
            </a:pPr>
            <a:r>
              <a:rPr lang="en-US" altLang="ko-KR"/>
              <a:t> </a:t>
            </a:r>
            <a:r>
              <a:rPr lang="ko-KR" altLang="en-US"/>
              <a:t>데이터베이스의 역사</a:t>
            </a:r>
          </a:p>
          <a:p>
            <a:pPr marL="0" indent="0" eaLnBrk="1" hangingPunct="1">
              <a:defRPr/>
            </a:pPr>
            <a:r>
              <a:rPr lang="ko-KR" altLang="en-US"/>
              <a:t> 관계형 데이터베이스 용어</a:t>
            </a:r>
          </a:p>
          <a:p>
            <a:pPr marL="0" indent="0" eaLnBrk="1" hangingPunct="1">
              <a:defRPr/>
            </a:pPr>
            <a:r>
              <a:rPr lang="ko-KR" altLang="en-US"/>
              <a:t> 기본키와 외래키</a:t>
            </a:r>
          </a:p>
          <a:p>
            <a:pPr marL="0" indent="0" eaLnBrk="1" hangingPunct="1">
              <a:defRPr/>
            </a:pPr>
            <a:r>
              <a:rPr lang="ko-KR" altLang="en-US"/>
              <a:t> 뷰</a:t>
            </a:r>
          </a:p>
          <a:p>
            <a:pPr marL="0" indent="0" eaLnBrk="1" hangingPunct="1">
              <a:defRPr/>
            </a:pPr>
            <a:r>
              <a:rPr lang="ko-KR" altLang="en-US"/>
              <a:t> </a:t>
            </a:r>
            <a:r>
              <a:rPr lang="en-US" altLang="ko-KR"/>
              <a:t>SQL </a:t>
            </a:r>
            <a:r>
              <a:rPr lang="ko-KR" altLang="en-US"/>
              <a:t>언어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>
            <a:extLst>
              <a:ext uri="{FF2B5EF4-FFF2-40B4-BE49-F238E27FC236}">
                <a16:creationId xmlns:a16="http://schemas.microsoft.com/office/drawing/2014/main" id="{424C779D-2700-42A9-AB52-8061C0BE3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1400175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7" name="Line 3">
            <a:extLst>
              <a:ext uri="{FF2B5EF4-FFF2-40B4-BE49-F238E27FC236}">
                <a16:creationId xmlns:a16="http://schemas.microsoft.com/office/drawing/2014/main" id="{97BB5096-0ADB-45F4-9795-C9F5AB890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2595563"/>
            <a:ext cx="6350" cy="172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Line 4">
            <a:extLst>
              <a:ext uri="{FF2B5EF4-FFF2-40B4-BE49-F238E27FC236}">
                <a16:creationId xmlns:a16="http://schemas.microsoft.com/office/drawing/2014/main" id="{CBD642BB-905D-4987-B7AF-B894F21794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9663" y="2533650"/>
            <a:ext cx="4762" cy="2447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Line 5">
            <a:extLst>
              <a:ext uri="{FF2B5EF4-FFF2-40B4-BE49-F238E27FC236}">
                <a16:creationId xmlns:a16="http://schemas.microsoft.com/office/drawing/2014/main" id="{FE0FCEAD-2E77-4BAC-BD3F-F49C75A93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63" y="266223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8A85D563-6D44-4F69-93CB-CC6874208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2162175"/>
            <a:ext cx="1082675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엔티티 정의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(6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945FA41-9A62-45C1-899D-969C04FC6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2940050"/>
            <a:ext cx="1082675" cy="4476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Arial" panose="020B0604020202020204" pitchFamily="34" charset="0"/>
              </a:rPr>
              <a:t>엔티티 정의</a:t>
            </a:r>
          </a:p>
        </p:txBody>
      </p:sp>
      <p:sp>
        <p:nvSpPr>
          <p:cNvPr id="96264" name="Rectangle 8">
            <a:extLst>
              <a:ext uri="{FF2B5EF4-FFF2-40B4-BE49-F238E27FC236}">
                <a16:creationId xmlns:a16="http://schemas.microsoft.com/office/drawing/2014/main" id="{23DF7F05-3E3E-46DA-AFC5-5802161A8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설계를 위한 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준비</a:t>
            </a:r>
          </a:p>
        </p:txBody>
      </p:sp>
      <p:sp>
        <p:nvSpPr>
          <p:cNvPr id="96265" name="Rectangle 9">
            <a:extLst>
              <a:ext uri="{FF2B5EF4-FFF2-40B4-BE49-F238E27FC236}">
                <a16:creationId xmlns:a16="http://schemas.microsoft.com/office/drawing/2014/main" id="{C5EBDE61-D584-4E90-BF87-B40554018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업무 분석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(5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66" name="Rectangle 10">
            <a:extLst>
              <a:ext uri="{FF2B5EF4-FFF2-40B4-BE49-F238E27FC236}">
                <a16:creationId xmlns:a16="http://schemas.microsoft.com/office/drawing/2014/main" id="{5BE513BD-D096-44F1-8346-06AA2D3F2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263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논리적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DB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</a:t>
            </a:r>
          </a:p>
        </p:txBody>
      </p:sp>
      <p:sp>
        <p:nvSpPr>
          <p:cNvPr id="96267" name="Rectangle 11">
            <a:extLst>
              <a:ext uri="{FF2B5EF4-FFF2-40B4-BE49-F238E27FC236}">
                <a16:creationId xmlns:a16="http://schemas.microsoft.com/office/drawing/2014/main" id="{992227BC-7ADE-417F-8D7D-E9150DB26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263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물리적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DB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(11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68" name="Rectangle 12">
            <a:extLst>
              <a:ext uri="{FF2B5EF4-FFF2-40B4-BE49-F238E27FC236}">
                <a16:creationId xmlns:a16="http://schemas.microsoft.com/office/drawing/2014/main" id="{BF8E7CD1-57D4-459E-9E56-178E69587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263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데이터베이스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구축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(12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57" name="Line 13">
            <a:extLst>
              <a:ext uri="{FF2B5EF4-FFF2-40B4-BE49-F238E27FC236}">
                <a16:creationId xmlns:a16="http://schemas.microsoft.com/office/drawing/2014/main" id="{9060E331-7921-429B-BF01-C89150212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688" y="1143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14">
            <a:extLst>
              <a:ext uri="{FF2B5EF4-FFF2-40B4-BE49-F238E27FC236}">
                <a16:creationId xmlns:a16="http://schemas.microsoft.com/office/drawing/2014/main" id="{E6F3ED8B-77A4-4037-8BED-62C38B1BC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1143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15">
            <a:extLst>
              <a:ext uri="{FF2B5EF4-FFF2-40B4-BE49-F238E27FC236}">
                <a16:creationId xmlns:a16="http://schemas.microsoft.com/office/drawing/2014/main" id="{81038D56-B495-4F26-9767-7B013F0C4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3025" y="11382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57221918-2732-4AC5-8E7D-EB3429D94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7025" y="11382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73" name="Rectangle 17">
            <a:extLst>
              <a:ext uri="{FF2B5EF4-FFF2-40B4-BE49-F238E27FC236}">
                <a16:creationId xmlns:a16="http://schemas.microsoft.com/office/drawing/2014/main" id="{1BECA078-47B1-4A22-8989-8DDD45E8F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62175"/>
            <a:ext cx="1143000" cy="533400"/>
          </a:xfrm>
          <a:prstGeom prst="rect">
            <a:avLst/>
          </a:prstGeom>
          <a:solidFill>
            <a:srgbClr val="FFFF00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데이터베이스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개요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(1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4" name="Rectangle 18">
            <a:extLst>
              <a:ext uri="{FF2B5EF4-FFF2-40B4-BE49-F238E27FC236}">
                <a16:creationId xmlns:a16="http://schemas.microsoft.com/office/drawing/2014/main" id="{0E498CFE-25CC-4030-9805-7EED8BCF1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909888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시스템구축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&amp;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DB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(2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5" name="Rectangle 19">
            <a:extLst>
              <a:ext uri="{FF2B5EF4-FFF2-40B4-BE49-F238E27FC236}">
                <a16:creationId xmlns:a16="http://schemas.microsoft.com/office/drawing/2014/main" id="{1486494B-D961-420E-A5B1-06D11ED18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652838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DB 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모델링의 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주요 개념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(3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6" name="Rectangle 20">
            <a:extLst>
              <a:ext uri="{FF2B5EF4-FFF2-40B4-BE49-F238E27FC236}">
                <a16:creationId xmlns:a16="http://schemas.microsoft.com/office/drawing/2014/main" id="{9D5D2AAC-681E-4B59-BA9F-DAABD220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414838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모델링 도구의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 사용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(4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7" name="Rectangle 21">
            <a:extLst>
              <a:ext uri="{FF2B5EF4-FFF2-40B4-BE49-F238E27FC236}">
                <a16:creationId xmlns:a16="http://schemas.microsoft.com/office/drawing/2014/main" id="{B77D87E8-12C8-404D-8A44-46B5E15D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863" y="2162175"/>
            <a:ext cx="1266825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latinLnBrk="0" hangingPunct="0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식별자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/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관계의 </a:t>
            </a:r>
          </a:p>
          <a:p>
            <a:pPr algn="ctr" eaLnBrk="0" latinLnBrk="0" hangingPunct="0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정의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(7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66" name="Line 22">
            <a:extLst>
              <a:ext uri="{FF2B5EF4-FFF2-40B4-BE49-F238E27FC236}">
                <a16:creationId xmlns:a16="http://schemas.microsoft.com/office/drawing/2014/main" id="{99ECD2A8-6A76-4FCE-8D67-CC83ED6A17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5263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7" name="Line 23">
            <a:extLst>
              <a:ext uri="{FF2B5EF4-FFF2-40B4-BE49-F238E27FC236}">
                <a16:creationId xmlns:a16="http://schemas.microsoft.com/office/drawing/2014/main" id="{749262E3-DADD-46BB-9726-C6F9FDD5D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263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8" name="Rectangle 24">
            <a:extLst>
              <a:ext uri="{FF2B5EF4-FFF2-40B4-BE49-F238E27FC236}">
                <a16:creationId xmlns:a16="http://schemas.microsoft.com/office/drawing/2014/main" id="{C0E96AD8-8737-4E87-A221-F81113A2F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2924175"/>
            <a:ext cx="1266825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주식별자 정의</a:t>
            </a:r>
          </a:p>
        </p:txBody>
      </p:sp>
      <p:sp>
        <p:nvSpPr>
          <p:cNvPr id="6169" name="Rectangle 25">
            <a:extLst>
              <a:ext uri="{FF2B5EF4-FFF2-40B4-BE49-F238E27FC236}">
                <a16:creationId xmlns:a16="http://schemas.microsoft.com/office/drawing/2014/main" id="{FE3964B8-1C85-408B-AC54-60BA099D0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609975"/>
            <a:ext cx="1266825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Arial" panose="020B0604020202020204" pitchFamily="34" charset="0"/>
              </a:rPr>
              <a:t>관계 정의</a:t>
            </a:r>
            <a:endParaRPr lang="ko-KR" altLang="en-US" sz="1200"/>
          </a:p>
        </p:txBody>
      </p:sp>
      <p:sp>
        <p:nvSpPr>
          <p:cNvPr id="6170" name="Rectangle 26">
            <a:extLst>
              <a:ext uri="{FF2B5EF4-FFF2-40B4-BE49-F238E27FC236}">
                <a16:creationId xmlns:a16="http://schemas.microsoft.com/office/drawing/2014/main" id="{6BA0081E-B2A9-402F-A367-B189DB572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4281488"/>
            <a:ext cx="1266825" cy="4429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외래식별자 정의</a:t>
            </a:r>
          </a:p>
        </p:txBody>
      </p:sp>
      <p:sp>
        <p:nvSpPr>
          <p:cNvPr id="6171" name="Rectangle 27">
            <a:extLst>
              <a:ext uri="{FF2B5EF4-FFF2-40B4-BE49-F238E27FC236}">
                <a16:creationId xmlns:a16="http://schemas.microsoft.com/office/drawing/2014/main" id="{07923C39-5CE5-4B2E-BB61-EC68ECFC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4967288"/>
            <a:ext cx="1266825" cy="4429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업무규칙정의</a:t>
            </a:r>
          </a:p>
        </p:txBody>
      </p:sp>
      <p:sp>
        <p:nvSpPr>
          <p:cNvPr id="6172" name="Rectangle 28">
            <a:extLst>
              <a:ext uri="{FF2B5EF4-FFF2-40B4-BE49-F238E27FC236}">
                <a16:creationId xmlns:a16="http://schemas.microsoft.com/office/drawing/2014/main" id="{B107A82D-BFAB-42EA-9420-04563A332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2924175"/>
            <a:ext cx="1081087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latinLnBrk="0" hangingPunct="1"/>
            <a:r>
              <a:rPr lang="ko-KR" altLang="en-US" sz="1200">
                <a:latin typeface="Arial" panose="020B0604020202020204" pitchFamily="34" charset="0"/>
              </a:rPr>
              <a:t>세부속성</a:t>
            </a:r>
          </a:p>
          <a:p>
            <a:pPr algn="ctr" eaLnBrk="1" latinLnBrk="0" hangingPunct="1"/>
            <a:r>
              <a:rPr lang="ko-KR" altLang="en-US" sz="1200">
                <a:latin typeface="Arial" panose="020B0604020202020204" pitchFamily="34" charset="0"/>
              </a:rPr>
              <a:t>확정</a:t>
            </a:r>
          </a:p>
        </p:txBody>
      </p:sp>
      <p:sp>
        <p:nvSpPr>
          <p:cNvPr id="96285" name="Rectangle 29">
            <a:extLst>
              <a:ext uri="{FF2B5EF4-FFF2-40B4-BE49-F238E27FC236}">
                <a16:creationId xmlns:a16="http://schemas.microsoft.com/office/drawing/2014/main" id="{58297F7C-A208-412F-AD5E-E6EFF050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2162175"/>
            <a:ext cx="1082675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상세화</a:t>
            </a:r>
          </a:p>
          <a:p>
            <a:pPr algn="ctr" latinLnBrk="0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(7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86" name="Rectangle 30">
            <a:extLst>
              <a:ext uri="{FF2B5EF4-FFF2-40B4-BE49-F238E27FC236}">
                <a16:creationId xmlns:a16="http://schemas.microsoft.com/office/drawing/2014/main" id="{8261F2E9-5ACC-4455-A71D-32DAB912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609975"/>
            <a:ext cx="1081088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정규화</a:t>
            </a:r>
          </a:p>
          <a:p>
            <a:pPr algn="ctr">
              <a:defRPr/>
            </a:pPr>
            <a:r>
              <a:rPr lang="en-US" altLang="ko-KR" sz="1200">
                <a:latin typeface="Arial" pitchFamily="34" charset="0"/>
                <a:ea typeface="돋움" pitchFamily="50" charset="-127"/>
              </a:rPr>
              <a:t>(8</a:t>
            </a:r>
            <a:r>
              <a:rPr lang="ko-KR" altLang="en-US" sz="1200">
                <a:latin typeface="Arial" pitchFamily="34" charset="0"/>
                <a:ea typeface="돋움" pitchFamily="50" charset="-127"/>
              </a:rPr>
              <a:t>장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)</a:t>
            </a:r>
          </a:p>
        </p:txBody>
      </p:sp>
      <p:sp>
        <p:nvSpPr>
          <p:cNvPr id="96287" name="Rectangle 31">
            <a:extLst>
              <a:ext uri="{FF2B5EF4-FFF2-40B4-BE49-F238E27FC236}">
                <a16:creationId xmlns:a16="http://schemas.microsoft.com/office/drawing/2014/main" id="{6FC23EC2-0E7F-4FFE-8F3F-68FD6C1EF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276725"/>
            <a:ext cx="1081088" cy="628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도메인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/</a:t>
            </a:r>
          </a:p>
          <a:p>
            <a:pPr algn="ctr" latinLnBrk="0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용어사전 </a:t>
            </a:r>
          </a:p>
          <a:p>
            <a:pPr algn="ctr" latinLnBrk="0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정의 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(9</a:t>
            </a:r>
            <a:r>
              <a:rPr lang="ko-KR" altLang="en-US" sz="1200">
                <a:latin typeface="Arial" pitchFamily="34" charset="0"/>
                <a:ea typeface="돋움" pitchFamily="50" charset="-127"/>
              </a:rPr>
              <a:t>장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)</a:t>
            </a:r>
          </a:p>
        </p:txBody>
      </p:sp>
      <p:sp>
        <p:nvSpPr>
          <p:cNvPr id="6176" name="Line 32">
            <a:extLst>
              <a:ext uri="{FF2B5EF4-FFF2-40B4-BE49-F238E27FC236}">
                <a16:creationId xmlns:a16="http://schemas.microsoft.com/office/drawing/2014/main" id="{A7373CFF-C612-4DDA-B936-577900CF7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0950" y="2595563"/>
            <a:ext cx="23813" cy="2427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7" name="Rectangle 33">
            <a:extLst>
              <a:ext uri="{FF2B5EF4-FFF2-40B4-BE49-F238E27FC236}">
                <a16:creationId xmlns:a16="http://schemas.microsoft.com/office/drawing/2014/main" id="{CD6297BE-7A2A-4880-8AB5-457DD78E9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924175"/>
            <a:ext cx="1081088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en-US" altLang="ko-KR" sz="1200">
                <a:latin typeface="Arial" panose="020B0604020202020204" pitchFamily="34" charset="0"/>
              </a:rPr>
              <a:t>ERD </a:t>
            </a:r>
            <a:r>
              <a:rPr lang="ko-KR" altLang="en-US" sz="1200">
                <a:latin typeface="Arial" panose="020B0604020202020204" pitchFamily="34" charset="0"/>
              </a:rPr>
              <a:t>통합</a:t>
            </a:r>
          </a:p>
        </p:txBody>
      </p:sp>
      <p:sp>
        <p:nvSpPr>
          <p:cNvPr id="96290" name="Rectangle 34">
            <a:extLst>
              <a:ext uri="{FF2B5EF4-FFF2-40B4-BE49-F238E27FC236}">
                <a16:creationId xmlns:a16="http://schemas.microsoft.com/office/drawing/2014/main" id="{D3B2FF3A-4F6C-4616-ACEE-60B18042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363" y="2162175"/>
            <a:ext cx="1082675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통합및 검증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(10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79" name="Rectangle 35">
            <a:extLst>
              <a:ext uri="{FF2B5EF4-FFF2-40B4-BE49-F238E27FC236}">
                <a16:creationId xmlns:a16="http://schemas.microsoft.com/office/drawing/2014/main" id="{73351DC0-2503-4D82-A888-1A0CE4222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3609975"/>
            <a:ext cx="1081088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엔티티 검증</a:t>
            </a:r>
          </a:p>
        </p:txBody>
      </p:sp>
      <p:sp>
        <p:nvSpPr>
          <p:cNvPr id="6180" name="Rectangle 36">
            <a:extLst>
              <a:ext uri="{FF2B5EF4-FFF2-40B4-BE49-F238E27FC236}">
                <a16:creationId xmlns:a16="http://schemas.microsoft.com/office/drawing/2014/main" id="{BBB52952-0515-4B72-81D5-DCB23CA82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8" y="4276725"/>
            <a:ext cx="1081087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관계 검증</a:t>
            </a:r>
          </a:p>
        </p:txBody>
      </p:sp>
      <p:sp>
        <p:nvSpPr>
          <p:cNvPr id="6181" name="Rectangle 37">
            <a:extLst>
              <a:ext uri="{FF2B5EF4-FFF2-40B4-BE49-F238E27FC236}">
                <a16:creationId xmlns:a16="http://schemas.microsoft.com/office/drawing/2014/main" id="{052AAF25-32B6-42B2-8E04-4D865E6BA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363" y="4967288"/>
            <a:ext cx="1081087" cy="4429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Arial" panose="020B0604020202020204" pitchFamily="34" charset="0"/>
              </a:rPr>
              <a:t>속성 검증</a:t>
            </a:r>
          </a:p>
        </p:txBody>
      </p:sp>
      <p:sp>
        <p:nvSpPr>
          <p:cNvPr id="6182" name="Line 38">
            <a:extLst>
              <a:ext uri="{FF2B5EF4-FFF2-40B4-BE49-F238E27FC236}">
                <a16:creationId xmlns:a16="http://schemas.microsoft.com/office/drawing/2014/main" id="{AB9D7E94-30A7-4BFC-B177-78305D041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3238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3" name="Line 39">
            <a:extLst>
              <a:ext uri="{FF2B5EF4-FFF2-40B4-BE49-F238E27FC236}">
                <a16:creationId xmlns:a16="http://schemas.microsoft.com/office/drawing/2014/main" id="{30801433-7C7C-490F-A58A-1B9665C40B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1400175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4" name="Line 40">
            <a:extLst>
              <a:ext uri="{FF2B5EF4-FFF2-40B4-BE49-F238E27FC236}">
                <a16:creationId xmlns:a16="http://schemas.microsoft.com/office/drawing/2014/main" id="{11D6EEB1-D6AE-4296-980F-4C183B06D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7313" y="1400175"/>
            <a:ext cx="2986087" cy="747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" name="AutoShape 41">
            <a:extLst>
              <a:ext uri="{FF2B5EF4-FFF2-40B4-BE49-F238E27FC236}">
                <a16:creationId xmlns:a16="http://schemas.microsoft.com/office/drawing/2014/main" id="{A1DE47B2-71BE-4AE0-A914-A8BB25AC9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2190750"/>
            <a:ext cx="152400" cy="228600"/>
          </a:xfrm>
          <a:prstGeom prst="homePlate">
            <a:avLst>
              <a:gd name="adj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683B591-C57A-4BAD-A062-4C12D01CA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9759A12-BD24-45D1-A90E-C5A1A1CA8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1" eaLnBrk="1" hangingPunct="1"/>
            <a:r>
              <a:rPr lang="ko-KR" altLang="en-US"/>
              <a:t>컴퓨터 발전의 역사 </a:t>
            </a:r>
            <a:r>
              <a:rPr lang="ko-KR" altLang="en-US">
                <a:sym typeface="Symbol" panose="05050102010706020507" pitchFamily="18" charset="2"/>
              </a:rPr>
              <a:t> </a:t>
            </a:r>
            <a:r>
              <a:rPr lang="ko-KR" altLang="en-US"/>
              <a:t>데이터 처리의 발전사</a:t>
            </a:r>
          </a:p>
          <a:p>
            <a:pPr lvl="1" eaLnBrk="1" hangingPunct="1"/>
            <a:r>
              <a:rPr lang="en-US" altLang="ko-KR"/>
              <a:t>EDPS (Electronic Data Processing System)</a:t>
            </a:r>
          </a:p>
          <a:p>
            <a:pPr lvl="2" eaLnBrk="1" hangingPunct="1"/>
            <a:r>
              <a:rPr lang="ko-KR" altLang="en-US"/>
              <a:t>컴퓨터와 데이터 처리의 밀접한 관계를 보여줌</a:t>
            </a:r>
          </a:p>
          <a:p>
            <a:pPr lvl="1" eaLnBrk="1" hangingPunct="1"/>
            <a:r>
              <a:rPr lang="ko-KR" altLang="en-US"/>
              <a:t>제 </a:t>
            </a:r>
            <a:r>
              <a:rPr lang="en-US" altLang="ko-KR"/>
              <a:t>1</a:t>
            </a:r>
            <a:r>
              <a:rPr lang="ko-KR" altLang="en-US"/>
              <a:t>세대 컴퓨터 시스템</a:t>
            </a:r>
          </a:p>
          <a:p>
            <a:pPr lvl="2" eaLnBrk="1" hangingPunct="1"/>
            <a:r>
              <a:rPr lang="ko-KR" altLang="en-US"/>
              <a:t>소프트웨어나 저장장치 등의 개발이 부족</a:t>
            </a:r>
          </a:p>
          <a:p>
            <a:pPr lvl="2" eaLnBrk="1" hangingPunct="1"/>
            <a:r>
              <a:rPr lang="ko-KR" altLang="en-US"/>
              <a:t>주로 기술 분야의 계산</a:t>
            </a:r>
            <a:r>
              <a:rPr lang="en-US" altLang="ko-KR"/>
              <a:t>, </a:t>
            </a:r>
            <a:r>
              <a:rPr lang="ko-KR" altLang="en-US"/>
              <a:t>자료 분류 등에 사용 </a:t>
            </a:r>
          </a:p>
          <a:p>
            <a:pPr lvl="1" eaLnBrk="1" hangingPunct="1"/>
            <a:r>
              <a:rPr lang="ko-KR" altLang="en-US"/>
              <a:t>제 </a:t>
            </a:r>
            <a:r>
              <a:rPr lang="en-US" altLang="ko-KR"/>
              <a:t>2</a:t>
            </a:r>
            <a:r>
              <a:rPr lang="ko-KR" altLang="en-US"/>
              <a:t>세대 컴퓨터 시스템</a:t>
            </a:r>
          </a:p>
          <a:p>
            <a:pPr lvl="2" eaLnBrk="1" hangingPunct="1"/>
            <a:r>
              <a:rPr lang="ko-KR" altLang="en-US"/>
              <a:t>운영체제가 도입되고 </a:t>
            </a:r>
            <a:r>
              <a:rPr lang="en-US" altLang="ko-KR"/>
              <a:t>FORTRAN, COBOL </a:t>
            </a:r>
            <a:r>
              <a:rPr lang="ko-KR" altLang="en-US"/>
              <a:t>등의 고급 언어 개발</a:t>
            </a:r>
          </a:p>
          <a:p>
            <a:pPr lvl="2" eaLnBrk="1" hangingPunct="1"/>
            <a:r>
              <a:rPr lang="ko-KR" altLang="en-US"/>
              <a:t> 파일 시스템</a:t>
            </a:r>
            <a:r>
              <a:rPr lang="en-US" altLang="ko-KR"/>
              <a:t>(file system)</a:t>
            </a:r>
            <a:r>
              <a:rPr lang="ko-KR" altLang="en-US"/>
              <a:t>의 도입</a:t>
            </a:r>
          </a:p>
          <a:p>
            <a:pPr lvl="2" eaLnBrk="1" hangingPunct="1"/>
            <a:r>
              <a:rPr lang="ko-KR" altLang="en-US"/>
              <a:t>자료를 분석하고 처리하는 일에 본격적으로 사용되기 시작</a:t>
            </a:r>
            <a:r>
              <a:rPr lang="ko-KR" altLang="en-US" b="0"/>
              <a:t> </a:t>
            </a:r>
          </a:p>
          <a:p>
            <a:pPr lvl="2" eaLnBrk="1" hangingPunct="1"/>
            <a:endParaRPr lang="ko-KR" altLang="en-US" b="0"/>
          </a:p>
          <a:p>
            <a:pPr lvl="2" eaLnBrk="1" hangingPunct="1"/>
            <a:endParaRPr lang="en-US" altLang="ko-KR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F65EDA93-3174-4FA2-AAC0-4940528E0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E3C26DE-C009-41CE-AE9C-65F3CE3F0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482841C-8931-4CA7-B7A2-31D1DB0E5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743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응용 프로그램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AC2EA98-5F9E-4DC0-98B9-8A1ACAA01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43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응용 프로그램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2A02B58E-8CF9-44DB-9422-EBA39009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743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응용 프로그램</a:t>
            </a:r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1F8E1D04-785F-4D3D-901C-EF6536F1F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505200"/>
            <a:ext cx="1600200" cy="304800"/>
          </a:xfrm>
          <a:prstGeom prst="flowChartPredefined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운영체제</a:t>
            </a:r>
          </a:p>
        </p:txBody>
      </p:sp>
      <p:sp>
        <p:nvSpPr>
          <p:cNvPr id="8200" name="AutoShape 8">
            <a:extLst>
              <a:ext uri="{FF2B5EF4-FFF2-40B4-BE49-F238E27FC236}">
                <a16:creationId xmlns:a16="http://schemas.microsoft.com/office/drawing/2014/main" id="{22FA9FA0-E6B5-4C9E-903A-A4E5882BF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43400"/>
            <a:ext cx="762000" cy="45720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600">
                <a:latin typeface="Times New Roman" panose="02020603050405020304" pitchFamily="18" charset="0"/>
                <a:ea typeface="굴림" panose="020B0503020000020004" pitchFamily="34" charset="-127"/>
              </a:rPr>
              <a:t>File</a:t>
            </a:r>
          </a:p>
        </p:txBody>
      </p:sp>
      <p:sp>
        <p:nvSpPr>
          <p:cNvPr id="8201" name="AutoShape 9">
            <a:extLst>
              <a:ext uri="{FF2B5EF4-FFF2-40B4-BE49-F238E27FC236}">
                <a16:creationId xmlns:a16="http://schemas.microsoft.com/office/drawing/2014/main" id="{352459E6-E919-4DF7-8315-278E03E38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343400"/>
            <a:ext cx="762000" cy="45720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600">
                <a:latin typeface="Times New Roman" panose="02020603050405020304" pitchFamily="18" charset="0"/>
                <a:ea typeface="굴림" panose="020B0503020000020004" pitchFamily="34" charset="-127"/>
              </a:rPr>
              <a:t>File</a:t>
            </a:r>
          </a:p>
        </p:txBody>
      </p:sp>
      <p:sp>
        <p:nvSpPr>
          <p:cNvPr id="8202" name="AutoShape 10">
            <a:extLst>
              <a:ext uri="{FF2B5EF4-FFF2-40B4-BE49-F238E27FC236}">
                <a16:creationId xmlns:a16="http://schemas.microsoft.com/office/drawing/2014/main" id="{FD4EA8DB-B9C0-4D0D-B1A3-B675D57C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343400"/>
            <a:ext cx="762000" cy="45720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600">
                <a:latin typeface="Times New Roman" panose="02020603050405020304" pitchFamily="18" charset="0"/>
                <a:ea typeface="굴림" panose="020B0503020000020004" pitchFamily="34" charset="-127"/>
              </a:rPr>
              <a:t>File</a:t>
            </a:r>
          </a:p>
        </p:txBody>
      </p:sp>
      <p:sp>
        <p:nvSpPr>
          <p:cNvPr id="8203" name="Freeform 11">
            <a:extLst>
              <a:ext uri="{FF2B5EF4-FFF2-40B4-BE49-F238E27FC236}">
                <a16:creationId xmlns:a16="http://schemas.microsoft.com/office/drawing/2014/main" id="{945A60C6-74AA-4216-BE5E-6AA4B0579B18}"/>
              </a:ext>
            </a:extLst>
          </p:cNvPr>
          <p:cNvSpPr>
            <a:spLocks/>
          </p:cNvSpPr>
          <p:nvPr/>
        </p:nvSpPr>
        <p:spPr bwMode="auto">
          <a:xfrm>
            <a:off x="2895600" y="3048000"/>
            <a:ext cx="2971800" cy="228600"/>
          </a:xfrm>
          <a:custGeom>
            <a:avLst/>
            <a:gdLst>
              <a:gd name="T0" fmla="*/ 0 w 1872"/>
              <a:gd name="T1" fmla="*/ 0 h 144"/>
              <a:gd name="T2" fmla="*/ 0 w 1872"/>
              <a:gd name="T3" fmla="*/ 362902445 h 144"/>
              <a:gd name="T4" fmla="*/ 2147483647 w 1872"/>
              <a:gd name="T5" fmla="*/ 362902445 h 144"/>
              <a:gd name="T6" fmla="*/ 2147483647 w 1872"/>
              <a:gd name="T7" fmla="*/ 0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144"/>
              <a:gd name="T14" fmla="*/ 1872 w 1872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144">
                <a:moveTo>
                  <a:pt x="0" y="0"/>
                </a:moveTo>
                <a:lnTo>
                  <a:pt x="0" y="144"/>
                </a:lnTo>
                <a:lnTo>
                  <a:pt x="1872" y="144"/>
                </a:lnTo>
                <a:lnTo>
                  <a:pt x="187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Freeform 12">
            <a:extLst>
              <a:ext uri="{FF2B5EF4-FFF2-40B4-BE49-F238E27FC236}">
                <a16:creationId xmlns:a16="http://schemas.microsoft.com/office/drawing/2014/main" id="{241319B9-A454-4C6F-919F-868481C58BD1}"/>
              </a:ext>
            </a:extLst>
          </p:cNvPr>
          <p:cNvSpPr>
            <a:spLocks/>
          </p:cNvSpPr>
          <p:nvPr/>
        </p:nvSpPr>
        <p:spPr bwMode="auto">
          <a:xfrm>
            <a:off x="2590800" y="4114800"/>
            <a:ext cx="3429000" cy="228600"/>
          </a:xfrm>
          <a:custGeom>
            <a:avLst/>
            <a:gdLst>
              <a:gd name="T0" fmla="*/ 0 w 2160"/>
              <a:gd name="T1" fmla="*/ 544353726 h 96"/>
              <a:gd name="T2" fmla="*/ 0 w 2160"/>
              <a:gd name="T3" fmla="*/ 0 h 96"/>
              <a:gd name="T4" fmla="*/ 2147483647 w 2160"/>
              <a:gd name="T5" fmla="*/ 0 h 96"/>
              <a:gd name="T6" fmla="*/ 2147483647 w 2160"/>
              <a:gd name="T7" fmla="*/ 544353726 h 96"/>
              <a:gd name="T8" fmla="*/ 0 60000 65536"/>
              <a:gd name="T9" fmla="*/ 0 60000 65536"/>
              <a:gd name="T10" fmla="*/ 0 60000 65536"/>
              <a:gd name="T11" fmla="*/ 0 60000 65536"/>
              <a:gd name="T12" fmla="*/ 0 w 2160"/>
              <a:gd name="T13" fmla="*/ 0 h 96"/>
              <a:gd name="T14" fmla="*/ 2160 w 2160"/>
              <a:gd name="T15" fmla="*/ 96 h 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" h="96">
                <a:moveTo>
                  <a:pt x="0" y="96"/>
                </a:moveTo>
                <a:lnTo>
                  <a:pt x="0" y="0"/>
                </a:lnTo>
                <a:lnTo>
                  <a:pt x="2160" y="0"/>
                </a:lnTo>
                <a:lnTo>
                  <a:pt x="2160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Line 13">
            <a:extLst>
              <a:ext uri="{FF2B5EF4-FFF2-40B4-BE49-F238E27FC236}">
                <a16:creationId xmlns:a16="http://schemas.microsoft.com/office/drawing/2014/main" id="{71AD5E8D-6A00-49BA-8468-C04C557F6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AFB38EEC-4869-4218-83F1-AE0AD3216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Text Box 15">
            <a:extLst>
              <a:ext uri="{FF2B5EF4-FFF2-40B4-BE49-F238E27FC236}">
                <a16:creationId xmlns:a16="http://schemas.microsoft.com/office/drawing/2014/main" id="{B4982764-DE57-433D-9FCC-2598FBFA3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029200"/>
            <a:ext cx="3992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1.1&gt; </a:t>
            </a:r>
            <a:r>
              <a:rPr lang="ko-KR" altLang="en-US" sz="1400" b="1"/>
              <a:t>파일 시스템에 기초한 자료처리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5716A9A-9237-4723-A663-095A10F52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9691D8E-8306-4991-9CA4-303C93DB3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ko-KR" altLang="en-US"/>
              <a:t>파일 시스템의 문제점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종속성</a:t>
            </a:r>
            <a:r>
              <a:rPr lang="en-US" altLang="ko-KR">
                <a:solidFill>
                  <a:srgbClr val="000099"/>
                </a:solidFill>
              </a:rPr>
              <a:t>(data dependency) </a:t>
            </a:r>
          </a:p>
          <a:p>
            <a:pPr lvl="3" eaLnBrk="1" hangingPunct="1"/>
            <a:r>
              <a:rPr lang="ko-KR" altLang="en-US"/>
              <a:t>데이터를 사용하는 프로그램의 구조가 데이터 구조</a:t>
            </a:r>
            <a:r>
              <a:rPr lang="en-US" altLang="ko-KR"/>
              <a:t>(</a:t>
            </a:r>
            <a:r>
              <a:rPr lang="ko-KR" altLang="en-US"/>
              <a:t>파일 구조</a:t>
            </a:r>
            <a:r>
              <a:rPr lang="en-US" altLang="ko-KR"/>
              <a:t>)</a:t>
            </a:r>
            <a:r>
              <a:rPr lang="ko-KR" altLang="en-US"/>
              <a:t>의 영향을 받는다는 것을 의미</a:t>
            </a:r>
          </a:p>
          <a:p>
            <a:pPr lvl="3" eaLnBrk="1" hangingPunct="1"/>
            <a:r>
              <a:rPr lang="ko-KR" altLang="en-US"/>
              <a:t>데이터 종속성은 프로그램의 개발과 유지 보수를 어렵게 함</a:t>
            </a:r>
          </a:p>
          <a:p>
            <a:pPr eaLnBrk="1" hangingPunct="1"/>
            <a:endParaRPr lang="en-US" altLang="ko-KR" sz="16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C11FCEC6-E9D5-42AB-8676-D755EC778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FC3EE6D-D79C-4D4E-A363-6AEBB835E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endParaRPr lang="en-US" altLang="ko-KR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5759856B-32C8-4E1C-8C28-1DE1743F4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35814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응용 프로그램</a:t>
            </a:r>
          </a:p>
          <a:p>
            <a:pPr eaLnBrk="1" hangingPunct="1"/>
            <a:endParaRPr lang="ko-KR" altLang="en-US" sz="1200">
              <a:solidFill>
                <a:srgbClr val="000000"/>
              </a:solidFill>
              <a:latin typeface="굴림" panose="020B0503020000020004" pitchFamily="34" charset="-127"/>
              <a:ea typeface="굴림" panose="020B0503020000020004" pitchFamily="34" charset="-127"/>
            </a:endParaRP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01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STUDENT-TBL.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                     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03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STUDENT-RECORD.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05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S-ID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             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PIC X(05).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          05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S-NAME                 PIC X(20).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05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S-TEL-NO        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PIC X(12).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          05 S-AGE                   PIC 9(02).</a:t>
            </a:r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8D2BA641-33F2-4DBD-B464-048899A50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7432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9334" name="Group 6">
            <a:extLst>
              <a:ext uri="{FF2B5EF4-FFF2-40B4-BE49-F238E27FC236}">
                <a16:creationId xmlns:a16="http://schemas.microsoft.com/office/drawing/2014/main" id="{112F3705-CF43-4EA0-8707-A2B762F79D67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2362200"/>
          <a:ext cx="3124200" cy="1752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학생정보 파일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98001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김철수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98002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홍길동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98003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이민수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98004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이해용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98005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강남석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98006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박병길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0212345613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0114341212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0415742512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0311231234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0192325672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0101232131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56" name="AutoShape 18">
            <a:extLst>
              <a:ext uri="{FF2B5EF4-FFF2-40B4-BE49-F238E27FC236}">
                <a16:creationId xmlns:a16="http://schemas.microsoft.com/office/drawing/2014/main" id="{214B4AC9-1ED9-4F90-B33D-3F7B315E8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00400"/>
            <a:ext cx="609600" cy="228600"/>
          </a:xfrm>
          <a:prstGeom prst="leftRightArrow">
            <a:avLst>
              <a:gd name="adj1" fmla="val 50000"/>
              <a:gd name="adj2" fmla="val 53333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57" name="Rectangle 19">
            <a:extLst>
              <a:ext uri="{FF2B5EF4-FFF2-40B4-BE49-F238E27FC236}">
                <a16:creationId xmlns:a16="http://schemas.microsoft.com/office/drawing/2014/main" id="{984445DF-E5A2-485A-96A4-7D45C5DAD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4244975"/>
            <a:ext cx="4592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1.2&gt; </a:t>
            </a:r>
            <a:r>
              <a:rPr lang="ko-KR" altLang="en-US" sz="1400" b="1"/>
              <a:t>학생정보를 읽어 처리하는 </a:t>
            </a:r>
            <a:r>
              <a:rPr lang="en-US" altLang="ko-KR" sz="1400" b="1"/>
              <a:t>COBOL </a:t>
            </a:r>
            <a:r>
              <a:rPr lang="ko-KR" altLang="en-US" sz="1400" b="1"/>
              <a:t>프로그램</a:t>
            </a:r>
          </a:p>
        </p:txBody>
      </p:sp>
      <p:sp>
        <p:nvSpPr>
          <p:cNvPr id="10258" name="Text Box 20">
            <a:extLst>
              <a:ext uri="{FF2B5EF4-FFF2-40B4-BE49-F238E27FC236}">
                <a16:creationId xmlns:a16="http://schemas.microsoft.com/office/drawing/2014/main" id="{82E33713-379D-46A3-AA3A-FE55A56EE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51425"/>
            <a:ext cx="723900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1800" b="1">
                <a:solidFill>
                  <a:srgbClr val="6600CC"/>
                </a:solidFill>
              </a:rPr>
              <a:t> </a:t>
            </a:r>
            <a:r>
              <a:rPr lang="ko-KR" altLang="en-US" sz="1800" b="1">
                <a:solidFill>
                  <a:srgbClr val="6600CC"/>
                </a:solidFill>
              </a:rPr>
              <a:t>학생의 이름을 저장하는 필드의 길이를 현재 </a:t>
            </a:r>
            <a:r>
              <a:rPr lang="en-US" altLang="ko-KR" sz="1800" b="1">
                <a:solidFill>
                  <a:srgbClr val="6600CC"/>
                </a:solidFill>
              </a:rPr>
              <a:t>20</a:t>
            </a:r>
            <a:r>
              <a:rPr lang="ko-KR" altLang="en-US" sz="1800" b="1">
                <a:solidFill>
                  <a:srgbClr val="6600CC"/>
                </a:solidFill>
              </a:rPr>
              <a:t>자리에서 </a:t>
            </a:r>
            <a:r>
              <a:rPr lang="en-US" altLang="ko-KR" sz="1800" b="1">
                <a:solidFill>
                  <a:srgbClr val="6600CC"/>
                </a:solidFill>
              </a:rPr>
              <a:t>30</a:t>
            </a:r>
            <a:r>
              <a:rPr lang="ko-KR" altLang="en-US" sz="1800" b="1">
                <a:solidFill>
                  <a:srgbClr val="6600CC"/>
                </a:solidFill>
              </a:rPr>
              <a:t>자리로 늘려야 하는 경우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ko-KR" altLang="en-US" sz="1800" b="1">
                <a:solidFill>
                  <a:srgbClr val="6600CC"/>
                </a:solidFill>
              </a:rPr>
              <a:t> 학생정보 파일에서 필드의 순서를 바꾸어 저장하고자 하는 경우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B41101AB-2508-4B37-8FB1-B94503145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DA96F0F-9537-4581-A857-5EF9E3A91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무결성</a:t>
            </a:r>
            <a:r>
              <a:rPr lang="en-US" altLang="ko-KR">
                <a:solidFill>
                  <a:srgbClr val="000099"/>
                </a:solidFill>
              </a:rPr>
              <a:t>(data integrity)</a:t>
            </a:r>
            <a:r>
              <a:rPr lang="ko-KR" altLang="en-US">
                <a:solidFill>
                  <a:srgbClr val="000099"/>
                </a:solidFill>
              </a:rPr>
              <a:t>의 침해</a:t>
            </a:r>
          </a:p>
          <a:p>
            <a:pPr lvl="3" eaLnBrk="1" hangingPunct="1"/>
            <a:r>
              <a:rPr lang="ko-KR" altLang="en-US"/>
              <a:t>데이터 무결성이란 저장된 데이터의 내용이 본래 의도했던 데이터의 형식</a:t>
            </a:r>
            <a:r>
              <a:rPr lang="en-US" altLang="ko-KR"/>
              <a:t>, </a:t>
            </a:r>
            <a:r>
              <a:rPr lang="ko-KR" altLang="en-US"/>
              <a:t>범위를 준수해야 한다는 성질</a:t>
            </a:r>
          </a:p>
          <a:p>
            <a:pPr lvl="3" eaLnBrk="1" hangingPunct="1"/>
            <a:r>
              <a:rPr lang="en-US" altLang="ko-KR"/>
              <a:t>&lt;</a:t>
            </a:r>
            <a:r>
              <a:rPr lang="ko-KR" altLang="en-US"/>
              <a:t>그림 </a:t>
            </a:r>
            <a:r>
              <a:rPr lang="en-US" altLang="ko-KR"/>
              <a:t>1.2&gt;</a:t>
            </a:r>
            <a:r>
              <a:rPr lang="ko-KR" altLang="en-US"/>
              <a:t>의 학생정보 파일에서</a:t>
            </a:r>
          </a:p>
          <a:p>
            <a:pPr lvl="4" eaLnBrk="1" hangingPunct="1"/>
            <a:r>
              <a:rPr lang="ko-KR" altLang="en-US"/>
              <a:t>나이</a:t>
            </a:r>
            <a:r>
              <a:rPr lang="en-US" altLang="ko-KR"/>
              <a:t>(AGE) </a:t>
            </a:r>
            <a:r>
              <a:rPr lang="ko-KR" altLang="en-US"/>
              <a:t>필드는 숫자 형식이어야 하고 음수가 아닌 양수이어야 함</a:t>
            </a:r>
          </a:p>
          <a:p>
            <a:pPr lvl="4" eaLnBrk="1" hangingPunct="1"/>
            <a:r>
              <a:rPr lang="ko-KR" altLang="en-US"/>
              <a:t>나이의 범위는 </a:t>
            </a:r>
            <a:r>
              <a:rPr lang="en-US" altLang="ko-KR"/>
              <a:t>20~60 </a:t>
            </a:r>
            <a:r>
              <a:rPr lang="ko-KR" altLang="en-US"/>
              <a:t>사이</a:t>
            </a:r>
          </a:p>
          <a:p>
            <a:pPr lvl="3" eaLnBrk="1" hangingPunct="1"/>
            <a:r>
              <a:rPr lang="ko-KR" altLang="en-US"/>
              <a:t>과거의 정보시스템에서는 데이터 무결성을 지켜야 할 책임이 프로그래머에게 있음</a:t>
            </a:r>
          </a:p>
          <a:p>
            <a:pPr lvl="3" eaLnBrk="1" hangingPunct="1"/>
            <a:r>
              <a:rPr lang="ko-KR" altLang="en-US"/>
              <a:t>정보화 사회에서는 인간의 삶이 많은 부분 컴퓨터 시스템에 저장된 데이터에 의존하고 있기 때문에 데이터 무결성의 침해는 매우 심각한 문제</a:t>
            </a:r>
          </a:p>
          <a:p>
            <a:pPr lvl="3" eaLnBrk="1" hangingPunct="1"/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F76DF68E-1B15-4F3B-8897-A874F5DF4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749C95C-0CEC-4206-A74F-9212EB2B6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중복성</a:t>
            </a:r>
            <a:r>
              <a:rPr lang="en-US" altLang="ko-KR">
                <a:solidFill>
                  <a:srgbClr val="000099"/>
                </a:solidFill>
              </a:rPr>
              <a:t>(data redundancy)</a:t>
            </a:r>
          </a:p>
          <a:p>
            <a:pPr lvl="3" eaLnBrk="1" hangingPunct="1"/>
            <a:r>
              <a:rPr lang="ko-KR" altLang="en-US"/>
              <a:t>같은 내용의 데이터가 여러 곳에 중복하여 저장되는 것을 의미</a:t>
            </a:r>
          </a:p>
          <a:p>
            <a:pPr lvl="3" eaLnBrk="1" hangingPunct="1"/>
            <a:r>
              <a:rPr lang="ko-KR" altLang="en-US"/>
              <a:t>과거의 정보시스템에서는 개별 부서나 응용 프로그램에서 필요로 하는 데이터 파일을 각각 만들어 사용하는 일이 많았음</a:t>
            </a:r>
          </a:p>
          <a:p>
            <a:pPr lvl="3" eaLnBrk="1" hangingPunct="1"/>
            <a:r>
              <a:rPr lang="ko-KR" altLang="en-US"/>
              <a:t>저장 공간의 낭비 문제 발생</a:t>
            </a:r>
          </a:p>
          <a:p>
            <a:pPr lvl="3" eaLnBrk="1" hangingPunct="1"/>
            <a:r>
              <a:rPr lang="ko-KR" altLang="en-US"/>
              <a:t>데이터의 불일치</a:t>
            </a:r>
            <a:r>
              <a:rPr lang="en-US" altLang="ko-KR"/>
              <a:t>, </a:t>
            </a:r>
            <a:r>
              <a:rPr lang="ko-KR" altLang="en-US"/>
              <a:t>보안의 어려움과 같은 문제들이 발생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1D91396C-0724-4FF1-AF8B-8D787DD22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AE2CBBE-2D96-40EB-81B7-DBE9CA6EB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불일치</a:t>
            </a:r>
            <a:r>
              <a:rPr lang="en-US" altLang="ko-KR">
                <a:solidFill>
                  <a:srgbClr val="000099"/>
                </a:solidFill>
              </a:rPr>
              <a:t>(data inconsistency)</a:t>
            </a:r>
          </a:p>
          <a:p>
            <a:pPr lvl="3" eaLnBrk="1" hangingPunct="1"/>
            <a:r>
              <a:rPr lang="ko-KR" altLang="en-US"/>
              <a:t>중복 저장된 데이터들이 서로 일치하지 않는 것을 의미</a:t>
            </a:r>
          </a:p>
          <a:p>
            <a:pPr lvl="3" eaLnBrk="1" hangingPunct="1"/>
            <a:r>
              <a:rPr lang="ko-KR" altLang="en-US"/>
              <a:t>예</a:t>
            </a:r>
            <a:r>
              <a:rPr lang="en-US" altLang="ko-KR"/>
              <a:t>1)  </a:t>
            </a:r>
            <a:r>
              <a:rPr lang="ko-KR" altLang="en-US"/>
              <a:t>우리가 이사를 하게 되면 변경된 주소를 학교나 직장</a:t>
            </a:r>
            <a:r>
              <a:rPr lang="en-US" altLang="ko-KR"/>
              <a:t>, </a:t>
            </a:r>
            <a:r>
              <a:rPr lang="ko-KR" altLang="en-US"/>
              <a:t>은행</a:t>
            </a:r>
            <a:r>
              <a:rPr lang="en-US" altLang="ko-KR"/>
              <a:t>, </a:t>
            </a:r>
            <a:r>
              <a:rPr lang="ko-KR" altLang="en-US"/>
              <a:t>가입된 웹사이트 등에 통보를 해야함</a:t>
            </a:r>
          </a:p>
          <a:p>
            <a:pPr lvl="3" eaLnBrk="1" hangingPunct="1"/>
            <a:r>
              <a:rPr lang="ko-KR" altLang="en-US"/>
              <a:t> 주소 정보가 여러 기관에 중복 저장되어 있다는데서 기인</a:t>
            </a:r>
          </a:p>
          <a:p>
            <a:pPr lvl="3" eaLnBrk="1" hangingPunct="1"/>
            <a:endParaRPr lang="ko-KR" altLang="en-US"/>
          </a:p>
          <a:p>
            <a:pPr lvl="3" eaLnBrk="1" hangingPunct="1"/>
            <a:r>
              <a:rPr lang="ko-KR" altLang="en-US"/>
              <a:t>예</a:t>
            </a:r>
            <a:r>
              <a:rPr lang="en-US" altLang="ko-KR"/>
              <a:t>2) </a:t>
            </a:r>
            <a:r>
              <a:rPr lang="ko-KR" altLang="en-US"/>
              <a:t>어떤 학생이 교무과에 휴학신청을 하여 휴학을 했는데</a:t>
            </a:r>
            <a:r>
              <a:rPr lang="en-US" altLang="ko-KR"/>
              <a:t>, </a:t>
            </a:r>
            <a:r>
              <a:rPr lang="ko-KR" altLang="en-US"/>
              <a:t>그 사실을 모르는 재무과에서는 등록금 고지서를 그 학생에게 발송</a:t>
            </a:r>
          </a:p>
          <a:p>
            <a:pPr lvl="3" eaLnBrk="1" hangingPunct="1"/>
            <a:r>
              <a:rPr lang="ko-KR" altLang="en-US"/>
              <a:t>  교무과의 학생 정보와 재무과의 학생 정보가 각각 관리되면서 불일치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162EE33B-4F97-4E80-A1DC-1E9EF1376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DC5E0C0-B3C4-4694-AB3C-E3EB828A8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표준화</a:t>
            </a:r>
            <a:r>
              <a:rPr lang="en-US" altLang="ko-KR">
                <a:solidFill>
                  <a:srgbClr val="000099"/>
                </a:solidFill>
              </a:rPr>
              <a:t>(data standard)</a:t>
            </a:r>
            <a:r>
              <a:rPr lang="ko-KR" altLang="en-US">
                <a:solidFill>
                  <a:srgbClr val="000099"/>
                </a:solidFill>
              </a:rPr>
              <a:t>의 어려움</a:t>
            </a:r>
          </a:p>
          <a:p>
            <a:pPr lvl="3" eaLnBrk="1" hangingPunct="1"/>
            <a:r>
              <a:rPr lang="ko-KR" altLang="en-US"/>
              <a:t>일정 규모 이상의 정보 시스템을 개발하기 위해서는 많은 수의 개발자들이 협력 작업 필요</a:t>
            </a:r>
          </a:p>
          <a:p>
            <a:pPr lvl="4" eaLnBrk="1" hangingPunct="1"/>
            <a:r>
              <a:rPr lang="ko-KR" altLang="en-US"/>
              <a:t>개발자</a:t>
            </a:r>
            <a:r>
              <a:rPr lang="en-US" altLang="ko-KR"/>
              <a:t>A</a:t>
            </a:r>
            <a:r>
              <a:rPr lang="ko-KR" altLang="en-US"/>
              <a:t>는 응용 프로그램에서 학생이름을 </a:t>
            </a:r>
            <a:r>
              <a:rPr lang="en-US" altLang="ko-KR"/>
              <a:t>'S-NAME' </a:t>
            </a:r>
            <a:r>
              <a:rPr lang="ko-KR" altLang="en-US"/>
              <a:t>으로</a:t>
            </a:r>
            <a:r>
              <a:rPr lang="en-US" altLang="ko-KR"/>
              <a:t>, </a:t>
            </a:r>
            <a:r>
              <a:rPr lang="ko-KR" altLang="en-US"/>
              <a:t>길이는 </a:t>
            </a:r>
            <a:r>
              <a:rPr lang="en-US" altLang="ko-KR"/>
              <a:t>20</a:t>
            </a:r>
            <a:r>
              <a:rPr lang="ko-KR" altLang="en-US"/>
              <a:t>자리로 사용</a:t>
            </a:r>
          </a:p>
          <a:p>
            <a:pPr lvl="4" eaLnBrk="1" hangingPunct="1"/>
            <a:r>
              <a:rPr lang="ko-KR" altLang="en-US"/>
              <a:t>개발자</a:t>
            </a:r>
            <a:r>
              <a:rPr lang="en-US" altLang="ko-KR"/>
              <a:t>B</a:t>
            </a:r>
            <a:r>
              <a:rPr lang="ko-KR" altLang="en-US"/>
              <a:t>는 학생이름을 </a:t>
            </a:r>
            <a:r>
              <a:rPr lang="en-US" altLang="ko-KR"/>
              <a:t>'SNME' </a:t>
            </a:r>
            <a:r>
              <a:rPr lang="ko-KR" altLang="en-US"/>
              <a:t>으로</a:t>
            </a:r>
            <a:r>
              <a:rPr lang="en-US" altLang="ko-KR"/>
              <a:t>, </a:t>
            </a:r>
            <a:r>
              <a:rPr lang="ko-KR" altLang="en-US"/>
              <a:t>길이는 </a:t>
            </a:r>
            <a:r>
              <a:rPr lang="en-US" altLang="ko-KR"/>
              <a:t>15 </a:t>
            </a:r>
            <a:r>
              <a:rPr lang="ko-KR" altLang="en-US"/>
              <a:t>자리로 사용</a:t>
            </a:r>
          </a:p>
          <a:p>
            <a:pPr lvl="3" eaLnBrk="1" hangingPunct="1"/>
            <a:r>
              <a:rPr lang="ko-KR" altLang="en-US"/>
              <a:t>표준화가 되어 있지않으면 제 </a:t>
            </a:r>
            <a:r>
              <a:rPr lang="en-US" altLang="ko-KR"/>
              <a:t>3</a:t>
            </a:r>
            <a:r>
              <a:rPr lang="ko-KR" altLang="en-US"/>
              <a:t>자가 프로그램을 이해하기도 어렵고 두 응용 프로그램간의 호환성에도 문제</a:t>
            </a:r>
          </a:p>
          <a:p>
            <a:pPr lvl="3" eaLnBrk="1" hangingPunct="1"/>
            <a:r>
              <a:rPr lang="ko-KR" altLang="en-US"/>
              <a:t>학생 이름을 지칭하고 표현하는 표준화된 규칙이 있다 하더라도 응용 프로그래머가 이를 지키지 않을 수 있음</a:t>
            </a:r>
          </a:p>
          <a:p>
            <a:pPr lvl="2" eaLnBrk="1" hangingPunct="1"/>
            <a:endParaRPr lang="ko-KR" altLang="en-US">
              <a:solidFill>
                <a:srgbClr val="000099"/>
              </a:solidFill>
            </a:endParaRPr>
          </a:p>
          <a:p>
            <a:pPr lvl="2" eaLnBrk="1" hangingPunct="1"/>
            <a:endParaRPr lang="en-US" altLang="ko-KR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D81DEFD6-AD1E-4413-8059-A85F4A42D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3854748-1EB8-45E6-874B-BA79E9920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보안성</a:t>
            </a:r>
            <a:r>
              <a:rPr lang="en-US" altLang="ko-KR">
                <a:solidFill>
                  <a:srgbClr val="000099"/>
                </a:solidFill>
              </a:rPr>
              <a:t>(data security)</a:t>
            </a:r>
            <a:r>
              <a:rPr lang="ko-KR" altLang="en-US">
                <a:solidFill>
                  <a:srgbClr val="000099"/>
                </a:solidFill>
              </a:rPr>
              <a:t>의 결여</a:t>
            </a:r>
          </a:p>
          <a:p>
            <a:pPr lvl="3" eaLnBrk="1" hangingPunct="1"/>
            <a:r>
              <a:rPr lang="ko-KR" altLang="en-US"/>
              <a:t>데이터가 저장되어 있는 파일은 그 내용이 </a:t>
            </a:r>
            <a:r>
              <a:rPr lang="en-US" altLang="ko-KR"/>
              <a:t>Text </a:t>
            </a:r>
            <a:r>
              <a:rPr lang="ko-KR" altLang="en-US"/>
              <a:t>형식이나 잘 알려진 형식으로 저장되기 때문에 응용프로그램 없이도 쉽게 파일을 열어 내용을 볼 수가 있음</a:t>
            </a:r>
          </a:p>
          <a:p>
            <a:pPr lvl="3" eaLnBrk="1" hangingPunct="1"/>
            <a:r>
              <a:rPr lang="ko-KR" altLang="en-US"/>
              <a:t>파일의 공유를 위해 접근이 쉬운 위치에 파일을 저장했기 때문에 보안을 유지하기가 어려움</a:t>
            </a:r>
          </a:p>
          <a:p>
            <a:pPr lvl="3" eaLnBrk="1" hangingPunct="1"/>
            <a:r>
              <a:rPr lang="ko-KR" altLang="en-US"/>
              <a:t>현대의 정보시스템에는 기업의 영업 비밀이나 고객의 사생활 정보와 같은 보안을 필요로 하는 데이터가 많이 저장</a:t>
            </a:r>
          </a:p>
          <a:p>
            <a:pPr lvl="3" eaLnBrk="1" hangingPunct="1"/>
            <a:r>
              <a:rPr lang="ko-KR" altLang="en-US"/>
              <a:t>보안성의 결여는 심각한 문제임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B07AFA00-F740-4CC3-A6B7-738AE72F0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415F4C8-1BF4-4CF1-864B-E11032653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</p:txBody>
      </p:sp>
      <p:sp>
        <p:nvSpPr>
          <p:cNvPr id="16388" name="Freeform 4">
            <a:extLst>
              <a:ext uri="{FF2B5EF4-FFF2-40B4-BE49-F238E27FC236}">
                <a16:creationId xmlns:a16="http://schemas.microsoft.com/office/drawing/2014/main" id="{741ABA32-A110-49C9-BC40-27E46BFB543A}"/>
              </a:ext>
            </a:extLst>
          </p:cNvPr>
          <p:cNvSpPr>
            <a:spLocks/>
          </p:cNvSpPr>
          <p:nvPr/>
        </p:nvSpPr>
        <p:spPr bwMode="auto">
          <a:xfrm>
            <a:off x="1930400" y="3911600"/>
            <a:ext cx="1651000" cy="965200"/>
          </a:xfrm>
          <a:custGeom>
            <a:avLst/>
            <a:gdLst>
              <a:gd name="T0" fmla="*/ 1204432203 w 712"/>
              <a:gd name="T1" fmla="*/ 153984524 h 440"/>
              <a:gd name="T2" fmla="*/ 430155062 w 712"/>
              <a:gd name="T3" fmla="*/ 384963469 h 440"/>
              <a:gd name="T4" fmla="*/ 172061112 w 712"/>
              <a:gd name="T5" fmla="*/ 1308875001 h 440"/>
              <a:gd name="T6" fmla="*/ 1462524052 w 712"/>
              <a:gd name="T7" fmla="*/ 1539853878 h 440"/>
              <a:gd name="T8" fmla="*/ 1720617929 w 712"/>
              <a:gd name="T9" fmla="*/ 1770830561 h 440"/>
              <a:gd name="T10" fmla="*/ 2147483647 w 712"/>
              <a:gd name="T11" fmla="*/ 2001809438 h 440"/>
              <a:gd name="T12" fmla="*/ 2147483647 w 712"/>
              <a:gd name="T13" fmla="*/ 1077898043 h 440"/>
              <a:gd name="T14" fmla="*/ 2147483647 w 712"/>
              <a:gd name="T15" fmla="*/ 153984524 h 440"/>
              <a:gd name="T16" fmla="*/ 1204432203 w 712"/>
              <a:gd name="T17" fmla="*/ 153984524 h 4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12"/>
              <a:gd name="T28" fmla="*/ 0 h 440"/>
              <a:gd name="T29" fmla="*/ 712 w 712"/>
              <a:gd name="T30" fmla="*/ 440 h 4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12" h="440">
                <a:moveTo>
                  <a:pt x="224" y="32"/>
                </a:moveTo>
                <a:cubicBezTo>
                  <a:pt x="144" y="40"/>
                  <a:pt x="112" y="40"/>
                  <a:pt x="80" y="80"/>
                </a:cubicBezTo>
                <a:cubicBezTo>
                  <a:pt x="48" y="120"/>
                  <a:pt x="0" y="232"/>
                  <a:pt x="32" y="272"/>
                </a:cubicBezTo>
                <a:cubicBezTo>
                  <a:pt x="64" y="312"/>
                  <a:pt x="224" y="304"/>
                  <a:pt x="272" y="320"/>
                </a:cubicBezTo>
                <a:cubicBezTo>
                  <a:pt x="320" y="336"/>
                  <a:pt x="280" y="352"/>
                  <a:pt x="320" y="368"/>
                </a:cubicBezTo>
                <a:cubicBezTo>
                  <a:pt x="360" y="384"/>
                  <a:pt x="448" y="440"/>
                  <a:pt x="512" y="416"/>
                </a:cubicBezTo>
                <a:cubicBezTo>
                  <a:pt x="576" y="392"/>
                  <a:pt x="696" y="288"/>
                  <a:pt x="704" y="224"/>
                </a:cubicBezTo>
                <a:cubicBezTo>
                  <a:pt x="712" y="160"/>
                  <a:pt x="640" y="64"/>
                  <a:pt x="560" y="32"/>
                </a:cubicBezTo>
                <a:cubicBezTo>
                  <a:pt x="480" y="0"/>
                  <a:pt x="304" y="24"/>
                  <a:pt x="224" y="32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6389" name="Picture 5" descr="D:\PFiles\MSOffice\Clipart\standard\stddir1\BD07073_.WMF">
            <a:extLst>
              <a:ext uri="{FF2B5EF4-FFF2-40B4-BE49-F238E27FC236}">
                <a16:creationId xmlns:a16="http://schemas.microsoft.com/office/drawing/2014/main" id="{17FD7F46-7464-4219-8206-D07936963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733800"/>
            <a:ext cx="2057400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Freeform 6">
            <a:extLst>
              <a:ext uri="{FF2B5EF4-FFF2-40B4-BE49-F238E27FC236}">
                <a16:creationId xmlns:a16="http://schemas.microsoft.com/office/drawing/2014/main" id="{36436180-51D7-452C-A879-E78ADA7FB287}"/>
              </a:ext>
            </a:extLst>
          </p:cNvPr>
          <p:cNvSpPr>
            <a:spLocks/>
          </p:cNvSpPr>
          <p:nvPr/>
        </p:nvSpPr>
        <p:spPr bwMode="auto">
          <a:xfrm>
            <a:off x="2209800" y="3200400"/>
            <a:ext cx="1651000" cy="965200"/>
          </a:xfrm>
          <a:custGeom>
            <a:avLst/>
            <a:gdLst>
              <a:gd name="T0" fmla="*/ 1204432203 w 712"/>
              <a:gd name="T1" fmla="*/ 153984524 h 440"/>
              <a:gd name="T2" fmla="*/ 430155062 w 712"/>
              <a:gd name="T3" fmla="*/ 384963469 h 440"/>
              <a:gd name="T4" fmla="*/ 172061112 w 712"/>
              <a:gd name="T5" fmla="*/ 1308875001 h 440"/>
              <a:gd name="T6" fmla="*/ 1462524052 w 712"/>
              <a:gd name="T7" fmla="*/ 1539853878 h 440"/>
              <a:gd name="T8" fmla="*/ 1720617929 w 712"/>
              <a:gd name="T9" fmla="*/ 1770830561 h 440"/>
              <a:gd name="T10" fmla="*/ 2147483647 w 712"/>
              <a:gd name="T11" fmla="*/ 2001809438 h 440"/>
              <a:gd name="T12" fmla="*/ 2147483647 w 712"/>
              <a:gd name="T13" fmla="*/ 1077898043 h 440"/>
              <a:gd name="T14" fmla="*/ 2147483647 w 712"/>
              <a:gd name="T15" fmla="*/ 153984524 h 440"/>
              <a:gd name="T16" fmla="*/ 1204432203 w 712"/>
              <a:gd name="T17" fmla="*/ 153984524 h 4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12"/>
              <a:gd name="T28" fmla="*/ 0 h 440"/>
              <a:gd name="T29" fmla="*/ 712 w 712"/>
              <a:gd name="T30" fmla="*/ 440 h 4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12" h="440">
                <a:moveTo>
                  <a:pt x="224" y="32"/>
                </a:moveTo>
                <a:cubicBezTo>
                  <a:pt x="144" y="40"/>
                  <a:pt x="112" y="40"/>
                  <a:pt x="80" y="80"/>
                </a:cubicBezTo>
                <a:cubicBezTo>
                  <a:pt x="48" y="120"/>
                  <a:pt x="0" y="232"/>
                  <a:pt x="32" y="272"/>
                </a:cubicBezTo>
                <a:cubicBezTo>
                  <a:pt x="64" y="312"/>
                  <a:pt x="224" y="304"/>
                  <a:pt x="272" y="320"/>
                </a:cubicBezTo>
                <a:cubicBezTo>
                  <a:pt x="320" y="336"/>
                  <a:pt x="280" y="352"/>
                  <a:pt x="320" y="368"/>
                </a:cubicBezTo>
                <a:cubicBezTo>
                  <a:pt x="360" y="384"/>
                  <a:pt x="448" y="440"/>
                  <a:pt x="512" y="416"/>
                </a:cubicBezTo>
                <a:cubicBezTo>
                  <a:pt x="576" y="392"/>
                  <a:pt x="696" y="288"/>
                  <a:pt x="704" y="224"/>
                </a:cubicBezTo>
                <a:cubicBezTo>
                  <a:pt x="712" y="160"/>
                  <a:pt x="640" y="64"/>
                  <a:pt x="560" y="32"/>
                </a:cubicBezTo>
                <a:cubicBezTo>
                  <a:pt x="480" y="0"/>
                  <a:pt x="304" y="24"/>
                  <a:pt x="224" y="32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1" name="Freeform 7">
            <a:extLst>
              <a:ext uri="{FF2B5EF4-FFF2-40B4-BE49-F238E27FC236}">
                <a16:creationId xmlns:a16="http://schemas.microsoft.com/office/drawing/2014/main" id="{F532F055-C7B2-409D-9E5A-8D953FFC6D23}"/>
              </a:ext>
            </a:extLst>
          </p:cNvPr>
          <p:cNvSpPr>
            <a:spLocks/>
          </p:cNvSpPr>
          <p:nvPr/>
        </p:nvSpPr>
        <p:spPr bwMode="auto">
          <a:xfrm>
            <a:off x="2819400" y="2667000"/>
            <a:ext cx="1651000" cy="965200"/>
          </a:xfrm>
          <a:custGeom>
            <a:avLst/>
            <a:gdLst>
              <a:gd name="T0" fmla="*/ 1204432203 w 712"/>
              <a:gd name="T1" fmla="*/ 153984524 h 440"/>
              <a:gd name="T2" fmla="*/ 430155062 w 712"/>
              <a:gd name="T3" fmla="*/ 384963469 h 440"/>
              <a:gd name="T4" fmla="*/ 172061112 w 712"/>
              <a:gd name="T5" fmla="*/ 1308875001 h 440"/>
              <a:gd name="T6" fmla="*/ 1462524052 w 712"/>
              <a:gd name="T7" fmla="*/ 1539853878 h 440"/>
              <a:gd name="T8" fmla="*/ 1720617929 w 712"/>
              <a:gd name="T9" fmla="*/ 1770830561 h 440"/>
              <a:gd name="T10" fmla="*/ 2147483647 w 712"/>
              <a:gd name="T11" fmla="*/ 2001809438 h 440"/>
              <a:gd name="T12" fmla="*/ 2147483647 w 712"/>
              <a:gd name="T13" fmla="*/ 1077898043 h 440"/>
              <a:gd name="T14" fmla="*/ 2147483647 w 712"/>
              <a:gd name="T15" fmla="*/ 153984524 h 440"/>
              <a:gd name="T16" fmla="*/ 1204432203 w 712"/>
              <a:gd name="T17" fmla="*/ 153984524 h 4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12"/>
              <a:gd name="T28" fmla="*/ 0 h 440"/>
              <a:gd name="T29" fmla="*/ 712 w 712"/>
              <a:gd name="T30" fmla="*/ 440 h 4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12" h="440">
                <a:moveTo>
                  <a:pt x="224" y="32"/>
                </a:moveTo>
                <a:cubicBezTo>
                  <a:pt x="144" y="40"/>
                  <a:pt x="112" y="40"/>
                  <a:pt x="80" y="80"/>
                </a:cubicBezTo>
                <a:cubicBezTo>
                  <a:pt x="48" y="120"/>
                  <a:pt x="0" y="232"/>
                  <a:pt x="32" y="272"/>
                </a:cubicBezTo>
                <a:cubicBezTo>
                  <a:pt x="64" y="312"/>
                  <a:pt x="224" y="304"/>
                  <a:pt x="272" y="320"/>
                </a:cubicBezTo>
                <a:cubicBezTo>
                  <a:pt x="320" y="336"/>
                  <a:pt x="280" y="352"/>
                  <a:pt x="320" y="368"/>
                </a:cubicBezTo>
                <a:cubicBezTo>
                  <a:pt x="360" y="384"/>
                  <a:pt x="448" y="440"/>
                  <a:pt x="512" y="416"/>
                </a:cubicBezTo>
                <a:cubicBezTo>
                  <a:pt x="576" y="392"/>
                  <a:pt x="696" y="288"/>
                  <a:pt x="704" y="224"/>
                </a:cubicBezTo>
                <a:cubicBezTo>
                  <a:pt x="712" y="160"/>
                  <a:pt x="640" y="64"/>
                  <a:pt x="560" y="32"/>
                </a:cubicBezTo>
                <a:cubicBezTo>
                  <a:pt x="480" y="0"/>
                  <a:pt x="304" y="24"/>
                  <a:pt x="224" y="32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2" name="Text Box 8">
            <a:extLst>
              <a:ext uri="{FF2B5EF4-FFF2-40B4-BE49-F238E27FC236}">
                <a16:creationId xmlns:a16="http://schemas.microsoft.com/office/drawing/2014/main" id="{E639F34D-542C-4DAA-96E8-B990BEEEE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267200"/>
            <a:ext cx="1136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종속성</a:t>
            </a:r>
          </a:p>
        </p:txBody>
      </p:sp>
      <p:sp>
        <p:nvSpPr>
          <p:cNvPr id="16393" name="Freeform 9">
            <a:extLst>
              <a:ext uri="{FF2B5EF4-FFF2-40B4-BE49-F238E27FC236}">
                <a16:creationId xmlns:a16="http://schemas.microsoft.com/office/drawing/2014/main" id="{BDE943BA-AFE2-4908-8C75-4D40C9863E30}"/>
              </a:ext>
            </a:extLst>
          </p:cNvPr>
          <p:cNvSpPr>
            <a:spLocks/>
          </p:cNvSpPr>
          <p:nvPr/>
        </p:nvSpPr>
        <p:spPr bwMode="auto">
          <a:xfrm>
            <a:off x="3987800" y="2616200"/>
            <a:ext cx="1651000" cy="965200"/>
          </a:xfrm>
          <a:custGeom>
            <a:avLst/>
            <a:gdLst>
              <a:gd name="T0" fmla="*/ 1204432203 w 712"/>
              <a:gd name="T1" fmla="*/ 153984524 h 440"/>
              <a:gd name="T2" fmla="*/ 430155062 w 712"/>
              <a:gd name="T3" fmla="*/ 384963469 h 440"/>
              <a:gd name="T4" fmla="*/ 172061112 w 712"/>
              <a:gd name="T5" fmla="*/ 1308875001 h 440"/>
              <a:gd name="T6" fmla="*/ 1462524052 w 712"/>
              <a:gd name="T7" fmla="*/ 1539853878 h 440"/>
              <a:gd name="T8" fmla="*/ 1720617929 w 712"/>
              <a:gd name="T9" fmla="*/ 1770830561 h 440"/>
              <a:gd name="T10" fmla="*/ 2147483647 w 712"/>
              <a:gd name="T11" fmla="*/ 2001809438 h 440"/>
              <a:gd name="T12" fmla="*/ 2147483647 w 712"/>
              <a:gd name="T13" fmla="*/ 1077898043 h 440"/>
              <a:gd name="T14" fmla="*/ 2147483647 w 712"/>
              <a:gd name="T15" fmla="*/ 153984524 h 440"/>
              <a:gd name="T16" fmla="*/ 1204432203 w 712"/>
              <a:gd name="T17" fmla="*/ 153984524 h 4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12"/>
              <a:gd name="T28" fmla="*/ 0 h 440"/>
              <a:gd name="T29" fmla="*/ 712 w 712"/>
              <a:gd name="T30" fmla="*/ 440 h 4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12" h="440">
                <a:moveTo>
                  <a:pt x="224" y="32"/>
                </a:moveTo>
                <a:cubicBezTo>
                  <a:pt x="144" y="40"/>
                  <a:pt x="112" y="40"/>
                  <a:pt x="80" y="80"/>
                </a:cubicBezTo>
                <a:cubicBezTo>
                  <a:pt x="48" y="120"/>
                  <a:pt x="0" y="232"/>
                  <a:pt x="32" y="272"/>
                </a:cubicBezTo>
                <a:cubicBezTo>
                  <a:pt x="64" y="312"/>
                  <a:pt x="224" y="304"/>
                  <a:pt x="272" y="320"/>
                </a:cubicBezTo>
                <a:cubicBezTo>
                  <a:pt x="320" y="336"/>
                  <a:pt x="280" y="352"/>
                  <a:pt x="320" y="368"/>
                </a:cubicBezTo>
                <a:cubicBezTo>
                  <a:pt x="360" y="384"/>
                  <a:pt x="448" y="440"/>
                  <a:pt x="512" y="416"/>
                </a:cubicBezTo>
                <a:cubicBezTo>
                  <a:pt x="576" y="392"/>
                  <a:pt x="696" y="288"/>
                  <a:pt x="704" y="224"/>
                </a:cubicBezTo>
                <a:cubicBezTo>
                  <a:pt x="712" y="160"/>
                  <a:pt x="640" y="64"/>
                  <a:pt x="560" y="32"/>
                </a:cubicBezTo>
                <a:cubicBezTo>
                  <a:pt x="480" y="0"/>
                  <a:pt x="304" y="24"/>
                  <a:pt x="224" y="32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4" name="Freeform 10">
            <a:extLst>
              <a:ext uri="{FF2B5EF4-FFF2-40B4-BE49-F238E27FC236}">
                <a16:creationId xmlns:a16="http://schemas.microsoft.com/office/drawing/2014/main" id="{3C91B412-C28F-4749-B97E-B8BA71B6E93B}"/>
              </a:ext>
            </a:extLst>
          </p:cNvPr>
          <p:cNvSpPr>
            <a:spLocks/>
          </p:cNvSpPr>
          <p:nvPr/>
        </p:nvSpPr>
        <p:spPr bwMode="auto">
          <a:xfrm>
            <a:off x="4902200" y="3048000"/>
            <a:ext cx="1651000" cy="965200"/>
          </a:xfrm>
          <a:custGeom>
            <a:avLst/>
            <a:gdLst>
              <a:gd name="T0" fmla="*/ 1204432203 w 712"/>
              <a:gd name="T1" fmla="*/ 153984524 h 440"/>
              <a:gd name="T2" fmla="*/ 430155062 w 712"/>
              <a:gd name="T3" fmla="*/ 384963469 h 440"/>
              <a:gd name="T4" fmla="*/ 172061112 w 712"/>
              <a:gd name="T5" fmla="*/ 1308875001 h 440"/>
              <a:gd name="T6" fmla="*/ 1462524052 w 712"/>
              <a:gd name="T7" fmla="*/ 1539853878 h 440"/>
              <a:gd name="T8" fmla="*/ 1720617929 w 712"/>
              <a:gd name="T9" fmla="*/ 1770830561 h 440"/>
              <a:gd name="T10" fmla="*/ 2147483647 w 712"/>
              <a:gd name="T11" fmla="*/ 2001809438 h 440"/>
              <a:gd name="T12" fmla="*/ 2147483647 w 712"/>
              <a:gd name="T13" fmla="*/ 1077898043 h 440"/>
              <a:gd name="T14" fmla="*/ 2147483647 w 712"/>
              <a:gd name="T15" fmla="*/ 153984524 h 440"/>
              <a:gd name="T16" fmla="*/ 1204432203 w 712"/>
              <a:gd name="T17" fmla="*/ 153984524 h 4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12"/>
              <a:gd name="T28" fmla="*/ 0 h 440"/>
              <a:gd name="T29" fmla="*/ 712 w 712"/>
              <a:gd name="T30" fmla="*/ 440 h 4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12" h="440">
                <a:moveTo>
                  <a:pt x="224" y="32"/>
                </a:moveTo>
                <a:cubicBezTo>
                  <a:pt x="144" y="40"/>
                  <a:pt x="112" y="40"/>
                  <a:pt x="80" y="80"/>
                </a:cubicBezTo>
                <a:cubicBezTo>
                  <a:pt x="48" y="120"/>
                  <a:pt x="0" y="232"/>
                  <a:pt x="32" y="272"/>
                </a:cubicBezTo>
                <a:cubicBezTo>
                  <a:pt x="64" y="312"/>
                  <a:pt x="224" y="304"/>
                  <a:pt x="272" y="320"/>
                </a:cubicBezTo>
                <a:cubicBezTo>
                  <a:pt x="320" y="336"/>
                  <a:pt x="280" y="352"/>
                  <a:pt x="320" y="368"/>
                </a:cubicBezTo>
                <a:cubicBezTo>
                  <a:pt x="360" y="384"/>
                  <a:pt x="448" y="440"/>
                  <a:pt x="512" y="416"/>
                </a:cubicBezTo>
                <a:cubicBezTo>
                  <a:pt x="576" y="392"/>
                  <a:pt x="696" y="288"/>
                  <a:pt x="704" y="224"/>
                </a:cubicBezTo>
                <a:cubicBezTo>
                  <a:pt x="712" y="160"/>
                  <a:pt x="640" y="64"/>
                  <a:pt x="560" y="32"/>
                </a:cubicBezTo>
                <a:cubicBezTo>
                  <a:pt x="480" y="0"/>
                  <a:pt x="304" y="24"/>
                  <a:pt x="224" y="32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5" name="Freeform 11">
            <a:extLst>
              <a:ext uri="{FF2B5EF4-FFF2-40B4-BE49-F238E27FC236}">
                <a16:creationId xmlns:a16="http://schemas.microsoft.com/office/drawing/2014/main" id="{CF6C1BB6-F0C2-45C1-B09E-1E9DB0C362B8}"/>
              </a:ext>
            </a:extLst>
          </p:cNvPr>
          <p:cNvSpPr>
            <a:spLocks/>
          </p:cNvSpPr>
          <p:nvPr/>
        </p:nvSpPr>
        <p:spPr bwMode="auto">
          <a:xfrm>
            <a:off x="5359400" y="3810000"/>
            <a:ext cx="1651000" cy="965200"/>
          </a:xfrm>
          <a:custGeom>
            <a:avLst/>
            <a:gdLst>
              <a:gd name="T0" fmla="*/ 1204432203 w 712"/>
              <a:gd name="T1" fmla="*/ 153984524 h 440"/>
              <a:gd name="T2" fmla="*/ 430155062 w 712"/>
              <a:gd name="T3" fmla="*/ 384963469 h 440"/>
              <a:gd name="T4" fmla="*/ 172061112 w 712"/>
              <a:gd name="T5" fmla="*/ 1308875001 h 440"/>
              <a:gd name="T6" fmla="*/ 1462524052 w 712"/>
              <a:gd name="T7" fmla="*/ 1539853878 h 440"/>
              <a:gd name="T8" fmla="*/ 1720617929 w 712"/>
              <a:gd name="T9" fmla="*/ 1770830561 h 440"/>
              <a:gd name="T10" fmla="*/ 2147483647 w 712"/>
              <a:gd name="T11" fmla="*/ 2001809438 h 440"/>
              <a:gd name="T12" fmla="*/ 2147483647 w 712"/>
              <a:gd name="T13" fmla="*/ 1077898043 h 440"/>
              <a:gd name="T14" fmla="*/ 2147483647 w 712"/>
              <a:gd name="T15" fmla="*/ 153984524 h 440"/>
              <a:gd name="T16" fmla="*/ 1204432203 w 712"/>
              <a:gd name="T17" fmla="*/ 153984524 h 4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12"/>
              <a:gd name="T28" fmla="*/ 0 h 440"/>
              <a:gd name="T29" fmla="*/ 712 w 712"/>
              <a:gd name="T30" fmla="*/ 440 h 4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12" h="440">
                <a:moveTo>
                  <a:pt x="224" y="32"/>
                </a:moveTo>
                <a:cubicBezTo>
                  <a:pt x="144" y="40"/>
                  <a:pt x="112" y="40"/>
                  <a:pt x="80" y="80"/>
                </a:cubicBezTo>
                <a:cubicBezTo>
                  <a:pt x="48" y="120"/>
                  <a:pt x="0" y="232"/>
                  <a:pt x="32" y="272"/>
                </a:cubicBezTo>
                <a:cubicBezTo>
                  <a:pt x="64" y="312"/>
                  <a:pt x="224" y="304"/>
                  <a:pt x="272" y="320"/>
                </a:cubicBezTo>
                <a:cubicBezTo>
                  <a:pt x="320" y="336"/>
                  <a:pt x="280" y="352"/>
                  <a:pt x="320" y="368"/>
                </a:cubicBezTo>
                <a:cubicBezTo>
                  <a:pt x="360" y="384"/>
                  <a:pt x="448" y="440"/>
                  <a:pt x="512" y="416"/>
                </a:cubicBezTo>
                <a:cubicBezTo>
                  <a:pt x="576" y="392"/>
                  <a:pt x="696" y="288"/>
                  <a:pt x="704" y="224"/>
                </a:cubicBezTo>
                <a:cubicBezTo>
                  <a:pt x="712" y="160"/>
                  <a:pt x="640" y="64"/>
                  <a:pt x="560" y="32"/>
                </a:cubicBezTo>
                <a:cubicBezTo>
                  <a:pt x="480" y="0"/>
                  <a:pt x="304" y="24"/>
                  <a:pt x="224" y="32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6" name="Text Box 12">
            <a:extLst>
              <a:ext uri="{FF2B5EF4-FFF2-40B4-BE49-F238E27FC236}">
                <a16:creationId xmlns:a16="http://schemas.microsoft.com/office/drawing/2014/main" id="{36E3B68C-FBCE-4FAD-AF5E-28305125F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3548063"/>
            <a:ext cx="1479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무결성 침해</a:t>
            </a:r>
          </a:p>
        </p:txBody>
      </p:sp>
      <p:sp>
        <p:nvSpPr>
          <p:cNvPr id="16397" name="Text Box 13">
            <a:extLst>
              <a:ext uri="{FF2B5EF4-FFF2-40B4-BE49-F238E27FC236}">
                <a16:creationId xmlns:a16="http://schemas.microsoft.com/office/drawing/2014/main" id="{69565FF4-FA44-4A90-9693-FD0CA1ECD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513" y="2971800"/>
            <a:ext cx="1136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중복성</a:t>
            </a:r>
          </a:p>
        </p:txBody>
      </p:sp>
      <p:sp>
        <p:nvSpPr>
          <p:cNvPr id="16398" name="Text Box 14">
            <a:extLst>
              <a:ext uri="{FF2B5EF4-FFF2-40B4-BE49-F238E27FC236}">
                <a16:creationId xmlns:a16="http://schemas.microsoft.com/office/drawing/2014/main" id="{0B909C00-6176-41DA-9927-DDEC80954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350" y="2849563"/>
            <a:ext cx="11366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불일치</a:t>
            </a:r>
          </a:p>
        </p:txBody>
      </p:sp>
      <p:sp>
        <p:nvSpPr>
          <p:cNvPr id="16399" name="Text Box 15">
            <a:extLst>
              <a:ext uri="{FF2B5EF4-FFF2-40B4-BE49-F238E27FC236}">
                <a16:creationId xmlns:a16="http://schemas.microsoft.com/office/drawing/2014/main" id="{37DB6B0C-2541-465A-BF33-FA6CBFB7E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276600"/>
            <a:ext cx="128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표준화의</a:t>
            </a:r>
          </a:p>
          <a:p>
            <a:pPr algn="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어려움</a:t>
            </a:r>
          </a:p>
        </p:txBody>
      </p:sp>
      <p:sp>
        <p:nvSpPr>
          <p:cNvPr id="16400" name="Text Box 16">
            <a:extLst>
              <a:ext uri="{FF2B5EF4-FFF2-40B4-BE49-F238E27FC236}">
                <a16:creationId xmlns:a16="http://schemas.microsoft.com/office/drawing/2014/main" id="{CCD03A80-FEA4-4C59-A993-E7337BEA7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950" y="4068763"/>
            <a:ext cx="1136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보안의</a:t>
            </a:r>
          </a:p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             어려움</a:t>
            </a:r>
          </a:p>
        </p:txBody>
      </p:sp>
      <p:sp>
        <p:nvSpPr>
          <p:cNvPr id="16401" name="Text Box 17">
            <a:extLst>
              <a:ext uri="{FF2B5EF4-FFF2-40B4-BE49-F238E27FC236}">
                <a16:creationId xmlns:a16="http://schemas.microsoft.com/office/drawing/2014/main" id="{525010B1-0C40-473E-A42E-8BC98A72D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505200"/>
            <a:ext cx="36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3200">
                <a:latin typeface="Times New Roman" panose="02020603050405020304" pitchFamily="18" charset="0"/>
                <a:ea typeface="굴림" panose="020B0600000101010101" pitchFamily="34" charset="-127"/>
              </a:rPr>
              <a:t>?</a:t>
            </a: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D9585FEA-8CEE-44AC-82E3-56E369490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105400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파일 시스템</a:t>
            </a:r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37620B18-598F-43CA-9BF8-580043E8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488" y="5638800"/>
            <a:ext cx="26527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1.3&gt; </a:t>
            </a:r>
            <a:r>
              <a:rPr lang="ko-KR" altLang="en-US" sz="1400" b="1"/>
              <a:t>파일 시스템의 위기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2655F30E-FA31-44DC-8874-8288EE4BE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5836B3E-CCF5-48CF-85D2-184F75D9A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데이터베이스의 등장</a:t>
            </a:r>
          </a:p>
          <a:p>
            <a:pPr lvl="1" eaLnBrk="1" hangingPunct="1"/>
            <a:r>
              <a:rPr lang="ko-KR" altLang="en-US"/>
              <a:t>파일 시스템의 단점을 극복하면서도 다수의 사용자들이 정보를 공유할 수 있어야 한다는 요구에 따라 제안됨</a:t>
            </a:r>
          </a:p>
          <a:p>
            <a:pPr lvl="1" eaLnBrk="1" hangingPunct="1"/>
            <a:r>
              <a:rPr lang="ko-KR" altLang="en-US"/>
              <a:t>데이터베이스의 철학</a:t>
            </a:r>
          </a:p>
          <a:p>
            <a:pPr lvl="2" eaLnBrk="1" hangingPunct="1"/>
            <a:r>
              <a:rPr lang="ko-KR" altLang="en-US"/>
              <a:t>파일 형태로 여기저기에 흩어져 있는 데이터</a:t>
            </a:r>
            <a:r>
              <a:rPr lang="en-US" altLang="ko-KR"/>
              <a:t>, </a:t>
            </a:r>
            <a:r>
              <a:rPr lang="ko-KR" altLang="en-US"/>
              <a:t>정보들을 하나로 모아 관리</a:t>
            </a:r>
          </a:p>
          <a:p>
            <a:pPr lvl="2" eaLnBrk="1" hangingPunct="1"/>
            <a:r>
              <a:rPr lang="ko-KR" altLang="en-US"/>
              <a:t>모아놓은 데이터들을 관리하고 사용자</a:t>
            </a:r>
            <a:r>
              <a:rPr lang="en-US" altLang="ko-KR"/>
              <a:t>(</a:t>
            </a:r>
            <a:r>
              <a:rPr lang="ko-KR" altLang="en-US"/>
              <a:t>응용 프로그램</a:t>
            </a:r>
            <a:r>
              <a:rPr lang="en-US" altLang="ko-KR"/>
              <a:t>)</a:t>
            </a:r>
            <a:r>
              <a:rPr lang="ko-KR" altLang="en-US"/>
              <a:t>와 데이터 사이에 인터페이스 역할을 할 수 있는 </a:t>
            </a:r>
            <a:r>
              <a:rPr lang="en-US" altLang="ko-KR"/>
              <a:t>S/W</a:t>
            </a:r>
            <a:r>
              <a:rPr lang="ko-KR" altLang="en-US"/>
              <a:t>를 제공</a:t>
            </a:r>
          </a:p>
          <a:p>
            <a:pPr lvl="1" eaLnBrk="1" hangingPunct="1"/>
            <a:r>
              <a:rPr lang="ko-KR" altLang="en-US"/>
              <a:t>초기에는 계층형</a:t>
            </a:r>
            <a:r>
              <a:rPr lang="en-US" altLang="ko-KR"/>
              <a:t>(hierarchical) </a:t>
            </a:r>
            <a:r>
              <a:rPr lang="ko-KR" altLang="en-US"/>
              <a:t>데이터베이스</a:t>
            </a:r>
            <a:r>
              <a:rPr lang="en-US" altLang="ko-KR"/>
              <a:t>, </a:t>
            </a:r>
            <a:r>
              <a:rPr lang="ko-KR" altLang="en-US"/>
              <a:t>네트워크형</a:t>
            </a:r>
            <a:r>
              <a:rPr lang="en-US" altLang="ko-KR"/>
              <a:t>(network) </a:t>
            </a:r>
            <a:r>
              <a:rPr lang="ko-KR" altLang="en-US"/>
              <a:t>데이터베이스가 사용되었으나 현재는 관계형</a:t>
            </a:r>
            <a:r>
              <a:rPr lang="en-US" altLang="ko-KR"/>
              <a:t>(relational) </a:t>
            </a:r>
            <a:r>
              <a:rPr lang="ko-KR" altLang="en-US"/>
              <a:t>데이터베이스가 주류를 이루고 있음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55755BA-92BE-4F30-BDAC-BA0B96294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2CF0544-30FD-4F4B-99FE-5CF83829C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데이터베이스의 등장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E848D1C0-ED67-4E23-996A-5780D72B7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146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응용 프로그램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02F842EC-4BB7-4976-821A-2F63420A2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5146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응용 프로그램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F0C801E9-FBF2-46F7-9D3C-E486EA50B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5146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응용 프로그램</a:t>
            </a:r>
          </a:p>
        </p:txBody>
      </p:sp>
      <p:sp>
        <p:nvSpPr>
          <p:cNvPr id="18439" name="AutoShape 7">
            <a:extLst>
              <a:ext uri="{FF2B5EF4-FFF2-40B4-BE49-F238E27FC236}">
                <a16:creationId xmlns:a16="http://schemas.microsoft.com/office/drawing/2014/main" id="{19D9A763-2BE9-421C-8386-58A551F4E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276600"/>
            <a:ext cx="1600200" cy="304800"/>
          </a:xfrm>
          <a:prstGeom prst="flowChartPredefined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DBMS</a:t>
            </a:r>
          </a:p>
        </p:txBody>
      </p:sp>
      <p:sp>
        <p:nvSpPr>
          <p:cNvPr id="18440" name="AutoShape 8">
            <a:extLst>
              <a:ext uri="{FF2B5EF4-FFF2-40B4-BE49-F238E27FC236}">
                <a16:creationId xmlns:a16="http://schemas.microsoft.com/office/drawing/2014/main" id="{2D763548-6AC9-4EA0-991C-99450489B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962400"/>
            <a:ext cx="2286000" cy="533400"/>
          </a:xfrm>
          <a:prstGeom prst="flowChartMagneticDisk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imes New Roman" panose="02020603050405020304" pitchFamily="18" charset="0"/>
                <a:ea typeface="굴림" panose="020B0600000101010101" pitchFamily="34" charset="-127"/>
              </a:rPr>
              <a:t>Database</a:t>
            </a:r>
          </a:p>
        </p:txBody>
      </p:sp>
      <p:sp>
        <p:nvSpPr>
          <p:cNvPr id="18441" name="Freeform 9">
            <a:extLst>
              <a:ext uri="{FF2B5EF4-FFF2-40B4-BE49-F238E27FC236}">
                <a16:creationId xmlns:a16="http://schemas.microsoft.com/office/drawing/2014/main" id="{59020B87-C040-477D-AC0B-039ECC99BEBC}"/>
              </a:ext>
            </a:extLst>
          </p:cNvPr>
          <p:cNvSpPr>
            <a:spLocks/>
          </p:cNvSpPr>
          <p:nvPr/>
        </p:nvSpPr>
        <p:spPr bwMode="auto">
          <a:xfrm>
            <a:off x="2971800" y="2819400"/>
            <a:ext cx="2971800" cy="228600"/>
          </a:xfrm>
          <a:custGeom>
            <a:avLst/>
            <a:gdLst>
              <a:gd name="T0" fmla="*/ 0 w 1872"/>
              <a:gd name="T1" fmla="*/ 0 h 144"/>
              <a:gd name="T2" fmla="*/ 0 w 1872"/>
              <a:gd name="T3" fmla="*/ 362902445 h 144"/>
              <a:gd name="T4" fmla="*/ 2147483647 w 1872"/>
              <a:gd name="T5" fmla="*/ 362902445 h 144"/>
              <a:gd name="T6" fmla="*/ 2147483647 w 1872"/>
              <a:gd name="T7" fmla="*/ 0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144"/>
              <a:gd name="T14" fmla="*/ 1872 w 1872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144">
                <a:moveTo>
                  <a:pt x="0" y="0"/>
                </a:moveTo>
                <a:lnTo>
                  <a:pt x="0" y="144"/>
                </a:lnTo>
                <a:lnTo>
                  <a:pt x="1872" y="144"/>
                </a:lnTo>
                <a:lnTo>
                  <a:pt x="187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0">
            <a:extLst>
              <a:ext uri="{FF2B5EF4-FFF2-40B4-BE49-F238E27FC236}">
                <a16:creationId xmlns:a16="http://schemas.microsoft.com/office/drawing/2014/main" id="{2C22E1E7-6423-463A-985A-216F24E48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581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1">
            <a:extLst>
              <a:ext uri="{FF2B5EF4-FFF2-40B4-BE49-F238E27FC236}">
                <a16:creationId xmlns:a16="http://schemas.microsoft.com/office/drawing/2014/main" id="{9BCE0000-2D01-4085-8064-8392962A2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Text Box 12">
            <a:extLst>
              <a:ext uri="{FF2B5EF4-FFF2-40B4-BE49-F238E27FC236}">
                <a16:creationId xmlns:a16="http://schemas.microsoft.com/office/drawing/2014/main" id="{2191A942-DB16-40B5-A7FE-A03B36609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5307013"/>
            <a:ext cx="7483475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1800" b="1">
                <a:solidFill>
                  <a:srgbClr val="6600CC"/>
                </a:solidFill>
              </a:rPr>
              <a:t> </a:t>
            </a:r>
            <a:r>
              <a:rPr lang="ko-KR" altLang="en-US" sz="1800" b="1">
                <a:solidFill>
                  <a:srgbClr val="6600CC"/>
                </a:solidFill>
              </a:rPr>
              <a:t>모아놓은 데이터의 집합 </a:t>
            </a:r>
            <a:r>
              <a:rPr lang="en-US" altLang="ko-KR" sz="1800" b="1">
                <a:solidFill>
                  <a:srgbClr val="6600CC"/>
                </a:solidFill>
              </a:rPr>
              <a:t>: </a:t>
            </a:r>
            <a:r>
              <a:rPr lang="ko-KR" altLang="en-US" sz="1800" b="1">
                <a:solidFill>
                  <a:srgbClr val="6600CC"/>
                </a:solidFill>
              </a:rPr>
              <a:t>데이터베이스</a:t>
            </a:r>
            <a:r>
              <a:rPr lang="en-US" altLang="ko-KR" sz="1800" b="1">
                <a:solidFill>
                  <a:srgbClr val="6600CC"/>
                </a:solidFill>
              </a:rPr>
              <a:t>(database)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1800" b="1">
                <a:solidFill>
                  <a:srgbClr val="6600CC"/>
                </a:solidFill>
              </a:rPr>
              <a:t> </a:t>
            </a:r>
            <a:r>
              <a:rPr lang="ko-KR" altLang="en-US" sz="1800" b="1">
                <a:solidFill>
                  <a:srgbClr val="6600CC"/>
                </a:solidFill>
              </a:rPr>
              <a:t>데이터를 관리하는 </a:t>
            </a:r>
            <a:r>
              <a:rPr lang="en-US" altLang="ko-KR" sz="1800" b="1">
                <a:solidFill>
                  <a:srgbClr val="6600CC"/>
                </a:solidFill>
              </a:rPr>
              <a:t>S/W : </a:t>
            </a:r>
            <a:r>
              <a:rPr lang="ko-KR" altLang="en-US" sz="1800" b="1">
                <a:solidFill>
                  <a:srgbClr val="6600CC"/>
                </a:solidFill>
              </a:rPr>
              <a:t>데이터베이스 관리 시스템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ko-KR" altLang="en-US" sz="1800" b="1">
                <a:solidFill>
                  <a:srgbClr val="6600CC"/>
                </a:solidFill>
              </a:rPr>
              <a:t>                                      </a:t>
            </a:r>
            <a:r>
              <a:rPr lang="en-US" altLang="ko-KR" sz="1800" b="1">
                <a:solidFill>
                  <a:srgbClr val="6600CC"/>
                </a:solidFill>
              </a:rPr>
              <a:t>(DBMS; Database Management System)</a:t>
            </a:r>
          </a:p>
        </p:txBody>
      </p:sp>
      <p:sp>
        <p:nvSpPr>
          <p:cNvPr id="18445" name="Text Box 13">
            <a:extLst>
              <a:ext uri="{FF2B5EF4-FFF2-40B4-BE49-F238E27FC236}">
                <a16:creationId xmlns:a16="http://schemas.microsoft.com/office/drawing/2014/main" id="{3AC43220-AC48-4356-AB88-A1FFFB297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648200"/>
            <a:ext cx="33512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1.4&gt; </a:t>
            </a:r>
            <a:r>
              <a:rPr lang="ko-KR" altLang="en-US" sz="1400" b="1"/>
              <a:t>데이터베이스 시스템의 개요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29BAF099-3026-49B4-A45D-636CF8D96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9B86A96-CD8B-4A3D-A91A-637E16E74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데이터베이스의 등장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ko-KR" altLang="en-US"/>
              <a:t>데이터베이스의 특징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독립성</a:t>
            </a:r>
            <a:r>
              <a:rPr lang="en-US" altLang="ko-KR">
                <a:solidFill>
                  <a:srgbClr val="000099"/>
                </a:solidFill>
              </a:rPr>
              <a:t>(independency) </a:t>
            </a:r>
            <a:r>
              <a:rPr lang="ko-KR" altLang="en-US">
                <a:solidFill>
                  <a:srgbClr val="000099"/>
                </a:solidFill>
              </a:rPr>
              <a:t>지원</a:t>
            </a:r>
          </a:p>
          <a:p>
            <a:pPr lvl="3" eaLnBrk="1" hangingPunct="1"/>
            <a:r>
              <a:rPr lang="ko-KR" altLang="en-US"/>
              <a:t>사용자 혹은 응용 프로그램이 직접 데이터베이스에 접근할 수 없고 반드시 </a:t>
            </a:r>
            <a:r>
              <a:rPr lang="en-US" altLang="ko-KR"/>
              <a:t>DBMS</a:t>
            </a:r>
            <a:r>
              <a:rPr lang="ko-KR" altLang="en-US"/>
              <a:t>를 통해서만 접근 가능</a:t>
            </a:r>
          </a:p>
          <a:p>
            <a:pPr lvl="3" eaLnBrk="1" hangingPunct="1"/>
            <a:r>
              <a:rPr lang="en-US" altLang="ko-KR"/>
              <a:t>DBMS</a:t>
            </a:r>
            <a:r>
              <a:rPr lang="ko-KR" altLang="en-US"/>
              <a:t>는 데이터베이스 내에 있는 데이터의 물리적</a:t>
            </a:r>
            <a:r>
              <a:rPr lang="en-US" altLang="ko-KR"/>
              <a:t>, </a:t>
            </a:r>
            <a:r>
              <a:rPr lang="ko-KR" altLang="en-US"/>
              <a:t>논리적 변화가 응용 시스템에 영향을 미치지 않도록 함으로써 데이터 독립성을 보장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무결성 유지</a:t>
            </a:r>
          </a:p>
          <a:p>
            <a:pPr lvl="3" eaLnBrk="1" hangingPunct="1"/>
            <a:r>
              <a:rPr lang="en-US" altLang="ko-KR"/>
              <a:t>DBMS</a:t>
            </a:r>
            <a:r>
              <a:rPr lang="ko-KR" altLang="en-US"/>
              <a:t>가 무결성을 위반하는 데이터가 들어올 경우 처리를 거절함으로써 데이터의 무결성을 지원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47EED7C4-670D-480B-B936-F4B2D359B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F4CC126-B3CE-4BC0-9754-073BC2848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데이터베이스의 등장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중복성 및 불일치 최소화</a:t>
            </a:r>
          </a:p>
          <a:p>
            <a:pPr lvl="3" eaLnBrk="1" hangingPunct="1"/>
            <a:r>
              <a:rPr lang="ko-KR" altLang="en-US"/>
              <a:t>데이터베이스 내의 데이터는 한 개인의 관점이나 특정 부서의 관점에서 관리되는 것이 아니라 데이터베이스를 공용하는 조직 전체의 관점에서 관리</a:t>
            </a:r>
          </a:p>
          <a:p>
            <a:pPr lvl="3" eaLnBrk="1" hangingPunct="1"/>
            <a:r>
              <a:rPr lang="ko-KR" altLang="en-US"/>
              <a:t>동일 데이터가 여러 부서에서 사용하는 경우 이를 하나로 관리함으로써 중복성을 방지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표준화의 용이성</a:t>
            </a:r>
          </a:p>
          <a:p>
            <a:pPr lvl="3" eaLnBrk="1" hangingPunct="1"/>
            <a:r>
              <a:rPr lang="ko-KR" altLang="en-US"/>
              <a:t>데이터베이스 관리자</a:t>
            </a:r>
            <a:r>
              <a:rPr lang="en-US" altLang="ko-KR"/>
              <a:t>(DBA)</a:t>
            </a:r>
            <a:r>
              <a:rPr lang="ko-KR" altLang="en-US"/>
              <a:t>가 설계과정을 주도함으로써 부서간 이해를 조정하고 관리될 데이터를 표준화시킴</a:t>
            </a:r>
          </a:p>
          <a:p>
            <a:pPr lvl="3" eaLnBrk="1" hangingPunct="1"/>
            <a:r>
              <a:rPr lang="ko-KR" altLang="en-US"/>
              <a:t>응용 프로그램에서 데이터에 접근하기 위해서는 </a:t>
            </a:r>
            <a:r>
              <a:rPr lang="en-US" altLang="ko-KR"/>
              <a:t>DBMS</a:t>
            </a:r>
            <a:r>
              <a:rPr lang="ko-KR" altLang="en-US"/>
              <a:t>가 가지고 있는 구조 정보에 따라야 하기 때문에 자연스럽게 표준화됨</a:t>
            </a:r>
          </a:p>
          <a:p>
            <a:pPr lvl="3" eaLnBrk="1" hangingPunct="1"/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9DB29E28-03B3-4E77-829B-F99E47281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1D97525-1599-4A41-A74A-115ED3D81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데이터베이스의 등장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높은 데이터 보안성</a:t>
            </a:r>
          </a:p>
          <a:p>
            <a:pPr lvl="3" eaLnBrk="1" hangingPunct="1"/>
            <a:r>
              <a:rPr lang="en-US" altLang="ko-KR"/>
              <a:t>DBMS</a:t>
            </a:r>
            <a:r>
              <a:rPr lang="ko-KR" altLang="en-US"/>
              <a:t>는 사용자의 권한에 따라 데이터베이스 내에 있는 데이터에 대한 접근을 제한할 수 있음</a:t>
            </a:r>
          </a:p>
          <a:p>
            <a:pPr lvl="3" eaLnBrk="1" hangingPunct="1"/>
            <a:r>
              <a:rPr lang="ko-KR" altLang="en-US"/>
              <a:t>저장된 데이터베이스는 일반적으로 </a:t>
            </a:r>
            <a:r>
              <a:rPr lang="en-US" altLang="ko-KR"/>
              <a:t>DBMS</a:t>
            </a:r>
            <a:r>
              <a:rPr lang="ko-KR" altLang="en-US"/>
              <a:t>를 통하지 않고는 외부에서 내용을 알아내기 매우 어려움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공유</a:t>
            </a:r>
            <a:r>
              <a:rPr lang="en-US" altLang="ko-KR">
                <a:solidFill>
                  <a:srgbClr val="000099"/>
                </a:solidFill>
              </a:rPr>
              <a:t>(data sharing)</a:t>
            </a:r>
            <a:r>
              <a:rPr lang="ko-KR" altLang="en-US">
                <a:solidFill>
                  <a:srgbClr val="000099"/>
                </a:solidFill>
              </a:rPr>
              <a:t>의 용이성</a:t>
            </a:r>
          </a:p>
          <a:p>
            <a:pPr lvl="3" eaLnBrk="1" hangingPunct="1"/>
            <a:r>
              <a:rPr lang="ko-KR" altLang="en-US"/>
              <a:t>데이터베이스 시스템의 기본 철학이 데이터를 통합 관리하고 이를 여러 부서</a:t>
            </a:r>
            <a:r>
              <a:rPr lang="en-US" altLang="ko-KR"/>
              <a:t>, </a:t>
            </a:r>
            <a:r>
              <a:rPr lang="ko-KR" altLang="en-US"/>
              <a:t>사용자들이 공유하도록 하는 것</a:t>
            </a:r>
          </a:p>
          <a:p>
            <a:pPr lvl="3" eaLnBrk="1" hangingPunct="1"/>
            <a:r>
              <a:rPr lang="en-US" altLang="ko-KR"/>
              <a:t>DBMS</a:t>
            </a:r>
            <a:r>
              <a:rPr lang="ko-KR" altLang="en-US"/>
              <a:t>는 여러 사용자의 요구를 동시적으로 처리할 수 있는 능력을 가지고 있음</a:t>
            </a:r>
          </a:p>
          <a:p>
            <a:pPr lvl="3" eaLnBrk="1" hangingPunct="1"/>
            <a:r>
              <a:rPr lang="en-US" altLang="ko-KR"/>
              <a:t>DBMS</a:t>
            </a:r>
            <a:r>
              <a:rPr lang="ko-KR" altLang="en-US"/>
              <a:t>는 데이터를 쉽게 이용할 수 있는 수단을 제공함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256C78B6-7784-4873-98BF-BEA24795A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E2199F4-1B86-4559-B90F-FAA8E7A72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데이터베이스의 등장</a:t>
            </a:r>
          </a:p>
          <a:p>
            <a:pPr eaLnBrk="1" hangingPunct="1"/>
            <a:endParaRPr lang="en-US" altLang="ko-KR"/>
          </a:p>
        </p:txBody>
      </p:sp>
      <p:pic>
        <p:nvPicPr>
          <p:cNvPr id="22532" name="Picture 4" descr="D:\PFiles\MSOffice\Clipart\standard\stddir1\BD07073_.WMF">
            <a:extLst>
              <a:ext uri="{FF2B5EF4-FFF2-40B4-BE49-F238E27FC236}">
                <a16:creationId xmlns:a16="http://schemas.microsoft.com/office/drawing/2014/main" id="{F600A129-4D3E-4864-B682-FB0BC077F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810000"/>
            <a:ext cx="2057400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AutoShape 5">
            <a:extLst>
              <a:ext uri="{FF2B5EF4-FFF2-40B4-BE49-F238E27FC236}">
                <a16:creationId xmlns:a16="http://schemas.microsoft.com/office/drawing/2014/main" id="{1795627D-6825-4739-A5BF-068A277F4AE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91000" y="2438400"/>
            <a:ext cx="762000" cy="1219200"/>
          </a:xfrm>
          <a:prstGeom prst="flowChartOffpageConnector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34" name="AutoShape 6">
            <a:extLst>
              <a:ext uri="{FF2B5EF4-FFF2-40B4-BE49-F238E27FC236}">
                <a16:creationId xmlns:a16="http://schemas.microsoft.com/office/drawing/2014/main" id="{2BB608BF-F830-45A0-AE9A-BBC19BB73DF7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2171700" y="4305300"/>
            <a:ext cx="533400" cy="1981200"/>
          </a:xfrm>
          <a:prstGeom prst="flowChartOffpageConnector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35" name="AutoShape 7">
            <a:extLst>
              <a:ext uri="{FF2B5EF4-FFF2-40B4-BE49-F238E27FC236}">
                <a16:creationId xmlns:a16="http://schemas.microsoft.com/office/drawing/2014/main" id="{E2FBEEC5-A5A4-43B3-8150-EB0DAE8D96C7}"/>
              </a:ext>
            </a:extLst>
          </p:cNvPr>
          <p:cNvSpPr>
            <a:spLocks noChangeArrowheads="1"/>
          </p:cNvSpPr>
          <p:nvPr/>
        </p:nvSpPr>
        <p:spPr bwMode="auto">
          <a:xfrm rot="5400000" flipH="1" flipV="1">
            <a:off x="6515100" y="4305300"/>
            <a:ext cx="533400" cy="1981200"/>
          </a:xfrm>
          <a:prstGeom prst="flowChartOffpageConnector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36" name="AutoShape 8">
            <a:extLst>
              <a:ext uri="{FF2B5EF4-FFF2-40B4-BE49-F238E27FC236}">
                <a16:creationId xmlns:a16="http://schemas.microsoft.com/office/drawing/2014/main" id="{657BCBDA-9C95-4742-A39D-5C1AB4083E82}"/>
              </a:ext>
            </a:extLst>
          </p:cNvPr>
          <p:cNvSpPr>
            <a:spLocks noChangeArrowheads="1"/>
          </p:cNvSpPr>
          <p:nvPr/>
        </p:nvSpPr>
        <p:spPr bwMode="auto">
          <a:xfrm rot="17195166" flipV="1">
            <a:off x="2324100" y="3314700"/>
            <a:ext cx="533400" cy="1981200"/>
          </a:xfrm>
          <a:prstGeom prst="flowChartOffpageConnector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37" name="AutoShape 9">
            <a:extLst>
              <a:ext uri="{FF2B5EF4-FFF2-40B4-BE49-F238E27FC236}">
                <a16:creationId xmlns:a16="http://schemas.microsoft.com/office/drawing/2014/main" id="{F1F8E6A9-8843-4A60-AC43-D350B7ECBE9D}"/>
              </a:ext>
            </a:extLst>
          </p:cNvPr>
          <p:cNvSpPr>
            <a:spLocks noChangeArrowheads="1"/>
          </p:cNvSpPr>
          <p:nvPr/>
        </p:nvSpPr>
        <p:spPr bwMode="auto">
          <a:xfrm rot="18225970" flipV="1">
            <a:off x="2705100" y="2400300"/>
            <a:ext cx="533400" cy="1981200"/>
          </a:xfrm>
          <a:prstGeom prst="flowChartOffpageConnector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38" name="AutoShape 10">
            <a:extLst>
              <a:ext uri="{FF2B5EF4-FFF2-40B4-BE49-F238E27FC236}">
                <a16:creationId xmlns:a16="http://schemas.microsoft.com/office/drawing/2014/main" id="{24D8AD82-B64B-4286-B574-224136B53525}"/>
              </a:ext>
            </a:extLst>
          </p:cNvPr>
          <p:cNvSpPr>
            <a:spLocks noChangeArrowheads="1"/>
          </p:cNvSpPr>
          <p:nvPr/>
        </p:nvSpPr>
        <p:spPr bwMode="auto">
          <a:xfrm rot="4404834" flipH="1" flipV="1">
            <a:off x="6362700" y="3314700"/>
            <a:ext cx="533400" cy="1981200"/>
          </a:xfrm>
          <a:prstGeom prst="flowChartOffpageConnector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39" name="AutoShape 11">
            <a:extLst>
              <a:ext uri="{FF2B5EF4-FFF2-40B4-BE49-F238E27FC236}">
                <a16:creationId xmlns:a16="http://schemas.microsoft.com/office/drawing/2014/main" id="{2A6B5760-62DD-4E7B-BA8C-477F560512B7}"/>
              </a:ext>
            </a:extLst>
          </p:cNvPr>
          <p:cNvSpPr>
            <a:spLocks noChangeArrowheads="1"/>
          </p:cNvSpPr>
          <p:nvPr/>
        </p:nvSpPr>
        <p:spPr bwMode="auto">
          <a:xfrm rot="3374030" flipH="1" flipV="1">
            <a:off x="5905500" y="2400300"/>
            <a:ext cx="533400" cy="1981200"/>
          </a:xfrm>
          <a:prstGeom prst="flowChartOffpageConnector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003C84DD-09FA-4966-8584-53E8304DA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5181600"/>
            <a:ext cx="11366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독립성</a:t>
            </a:r>
          </a:p>
        </p:txBody>
      </p:sp>
      <p:sp>
        <p:nvSpPr>
          <p:cNvPr id="22541" name="Text Box 13">
            <a:extLst>
              <a:ext uri="{FF2B5EF4-FFF2-40B4-BE49-F238E27FC236}">
                <a16:creationId xmlns:a16="http://schemas.microsoft.com/office/drawing/2014/main" id="{CBBE52F7-9C2C-4F2D-96E1-A1112F620868}"/>
              </a:ext>
            </a:extLst>
          </p:cNvPr>
          <p:cNvSpPr txBox="1">
            <a:spLocks noChangeArrowheads="1"/>
          </p:cNvSpPr>
          <p:nvPr/>
        </p:nvSpPr>
        <p:spPr bwMode="auto">
          <a:xfrm rot="897157">
            <a:off x="2057400" y="4221163"/>
            <a:ext cx="1479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무결성 유지</a:t>
            </a:r>
          </a:p>
        </p:txBody>
      </p:sp>
      <p:sp>
        <p:nvSpPr>
          <p:cNvPr id="22542" name="Text Box 14">
            <a:extLst>
              <a:ext uri="{FF2B5EF4-FFF2-40B4-BE49-F238E27FC236}">
                <a16:creationId xmlns:a16="http://schemas.microsoft.com/office/drawing/2014/main" id="{3961125C-F7D6-4AB1-9F3E-C219D80C6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200400"/>
            <a:ext cx="10604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</a:t>
            </a:r>
          </a:p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     중복성</a:t>
            </a:r>
          </a:p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           최소화</a:t>
            </a:r>
          </a:p>
        </p:txBody>
      </p:sp>
      <p:sp>
        <p:nvSpPr>
          <p:cNvPr id="22543" name="Text Box 15">
            <a:extLst>
              <a:ext uri="{FF2B5EF4-FFF2-40B4-BE49-F238E27FC236}">
                <a16:creationId xmlns:a16="http://schemas.microsoft.com/office/drawing/2014/main" id="{962BB510-F5C1-42F7-AE9C-5CE4D59EC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2913" y="2840038"/>
            <a:ext cx="6413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불일치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감소</a:t>
            </a:r>
          </a:p>
        </p:txBody>
      </p:sp>
      <p:sp>
        <p:nvSpPr>
          <p:cNvPr id="22544" name="Text Box 16">
            <a:extLst>
              <a:ext uri="{FF2B5EF4-FFF2-40B4-BE49-F238E27FC236}">
                <a16:creationId xmlns:a16="http://schemas.microsoft.com/office/drawing/2014/main" id="{452949CB-588C-4815-8C19-5D82F4C4C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7450" y="3124200"/>
            <a:ext cx="17081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                            </a:t>
            </a:r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           표준화의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용이성</a:t>
            </a:r>
          </a:p>
        </p:txBody>
      </p:sp>
      <p:sp>
        <p:nvSpPr>
          <p:cNvPr id="22545" name="Text Box 17">
            <a:extLst>
              <a:ext uri="{FF2B5EF4-FFF2-40B4-BE49-F238E27FC236}">
                <a16:creationId xmlns:a16="http://schemas.microsoft.com/office/drawing/2014/main" id="{D02BEC44-E0BA-46D3-834B-E2ECEA487113}"/>
              </a:ext>
            </a:extLst>
          </p:cNvPr>
          <p:cNvSpPr txBox="1">
            <a:spLocks noChangeArrowheads="1"/>
          </p:cNvSpPr>
          <p:nvPr/>
        </p:nvSpPr>
        <p:spPr bwMode="auto">
          <a:xfrm rot="-998171">
            <a:off x="5867400" y="4191000"/>
            <a:ext cx="14795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높은 데이터 보안성</a:t>
            </a:r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6D80525D-92E6-415D-8053-8A5FFDCF0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211763"/>
            <a:ext cx="16319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 공유의 용이성</a:t>
            </a:r>
          </a:p>
        </p:txBody>
      </p:sp>
      <p:sp>
        <p:nvSpPr>
          <p:cNvPr id="22547" name="Rectangle 19">
            <a:extLst>
              <a:ext uri="{FF2B5EF4-FFF2-40B4-BE49-F238E27FC236}">
                <a16:creationId xmlns:a16="http://schemas.microsoft.com/office/drawing/2014/main" id="{373A8A2F-E420-49BE-AE13-7338C63A9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105400"/>
            <a:ext cx="1676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데이터베이스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시스템</a:t>
            </a:r>
          </a:p>
        </p:txBody>
      </p:sp>
      <p:sp>
        <p:nvSpPr>
          <p:cNvPr id="22548" name="Text Box 20">
            <a:extLst>
              <a:ext uri="{FF2B5EF4-FFF2-40B4-BE49-F238E27FC236}">
                <a16:creationId xmlns:a16="http://schemas.microsoft.com/office/drawing/2014/main" id="{F41BB3E2-1CB2-498D-8084-E0D0A4130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791200"/>
            <a:ext cx="33512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1.5&gt; </a:t>
            </a:r>
            <a:r>
              <a:rPr lang="ko-KR" altLang="en-US" sz="1400" b="1"/>
              <a:t>데이터베이스 시스템의 장점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45A5FFBB-E7F6-4A07-9D1B-3B76BF314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18728A4-CAD9-4AF5-9941-0B185A839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관계형 데이터베이스 모델</a:t>
            </a:r>
          </a:p>
          <a:p>
            <a:pPr lvl="1" eaLnBrk="1" hangingPunct="1"/>
            <a:r>
              <a:rPr lang="ko-KR" altLang="en-US"/>
              <a:t>현재 가장 많이 사용되는 데이터베이스 모델</a:t>
            </a:r>
          </a:p>
          <a:p>
            <a:pPr lvl="1" eaLnBrk="1" hangingPunct="1"/>
            <a:r>
              <a:rPr lang="ko-KR" altLang="en-US"/>
              <a:t>데이터가 테이블 형태로 표현되며</a:t>
            </a:r>
            <a:r>
              <a:rPr lang="en-US" altLang="ko-KR"/>
              <a:t>, </a:t>
            </a:r>
            <a:r>
              <a:rPr lang="ko-KR" altLang="en-US"/>
              <a:t>사용자가 데이터를 쉽게 다룰 수 있도록 해주는 질의어</a:t>
            </a:r>
            <a:r>
              <a:rPr lang="en-US" altLang="ko-KR"/>
              <a:t>(SQL)</a:t>
            </a:r>
            <a:r>
              <a:rPr lang="ko-KR" altLang="en-US"/>
              <a:t>를 제공</a:t>
            </a:r>
          </a:p>
          <a:p>
            <a:pPr lvl="1" eaLnBrk="1" hangingPunct="1"/>
            <a:r>
              <a:rPr lang="ko-KR" altLang="en-US"/>
              <a:t>테이블 형태로 표현된 데이터는 단순해서 누구나 쉽게 이해할 수 있음</a:t>
            </a:r>
          </a:p>
          <a:p>
            <a:pPr lvl="1" eaLnBrk="1" hangingPunct="1"/>
            <a:r>
              <a:rPr lang="en-US" altLang="ko-KR"/>
              <a:t>SQL</a:t>
            </a:r>
            <a:r>
              <a:rPr lang="ko-KR" altLang="en-US"/>
              <a:t>은 자연어에 가까운 문법을 가지고 있어서 배우기 쉽고</a:t>
            </a:r>
            <a:r>
              <a:rPr lang="en-US" altLang="ko-KR"/>
              <a:t>, </a:t>
            </a:r>
            <a:r>
              <a:rPr lang="ko-KR" altLang="en-US"/>
              <a:t>데이터를 어떻게</a:t>
            </a:r>
            <a:r>
              <a:rPr lang="en-US" altLang="ko-KR"/>
              <a:t>(how) </a:t>
            </a:r>
            <a:r>
              <a:rPr lang="ko-KR" altLang="en-US"/>
              <a:t>가져올 것인가 대신에 어떤</a:t>
            </a:r>
            <a:r>
              <a:rPr lang="en-US" altLang="ko-KR"/>
              <a:t>(what) </a:t>
            </a:r>
            <a:r>
              <a:rPr lang="ko-KR" altLang="en-US"/>
              <a:t>데이터를 원하는지만 기술해주면 되기 때문에 사용자나 개발자의 입장에서는 데이터를 다루는 작업이 매우 단순해짐</a:t>
            </a:r>
          </a:p>
          <a:p>
            <a:pPr lvl="1" eaLnBrk="1" hangingPunct="1"/>
            <a:r>
              <a:rPr lang="en-US" altLang="ko-KR"/>
              <a:t>SQL </a:t>
            </a:r>
            <a:r>
              <a:rPr lang="ko-KR" altLang="en-US"/>
              <a:t>명령어나 문법은 표준화 되어 있기 때문에 대부분의 명령어는 모든 관계형 데이터베이스 제품에서 공통적으로 사용 가능 </a:t>
            </a:r>
          </a:p>
          <a:p>
            <a:pPr lvl="1" eaLnBrk="1" hangingPunct="1"/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298529B-8C4B-4CB5-9B94-7B7FD323E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89B0E04-0F22-4301-84C6-18F33EB93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관계형 데이터베이스 모델</a:t>
            </a:r>
          </a:p>
        </p:txBody>
      </p:sp>
      <p:graphicFrame>
        <p:nvGraphicFramePr>
          <p:cNvPr id="1026" name="Object 1024">
            <a:extLst>
              <a:ext uri="{FF2B5EF4-FFF2-40B4-BE49-F238E27FC236}">
                <a16:creationId xmlns:a16="http://schemas.microsoft.com/office/drawing/2014/main" id="{D575DDB3-CB37-4A9C-A62A-64FC1AA499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2175" y="2295525"/>
          <a:ext cx="7361238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361905" imgH="2200582" progId="Paint.Picture">
                  <p:embed/>
                </p:oleObj>
              </mc:Choice>
              <mc:Fallback>
                <p:oleObj name="Bitmap Image" r:id="rId2" imgW="7361905" imgH="2200582" progId="Paint.Picture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2295525"/>
                        <a:ext cx="7361238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5">
            <a:extLst>
              <a:ext uri="{FF2B5EF4-FFF2-40B4-BE49-F238E27FC236}">
                <a16:creationId xmlns:a16="http://schemas.microsoft.com/office/drawing/2014/main" id="{DE718A89-2637-428D-A06B-19E0EC72C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4648200"/>
            <a:ext cx="3060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1.6&gt; </a:t>
            </a:r>
            <a:r>
              <a:rPr lang="ko-KR" altLang="en-US" sz="1400" b="1"/>
              <a:t>사원 테이블과 질의의 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AD47A653-D078-49AE-8A8D-04A384023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1.2 </a:t>
            </a:r>
            <a:r>
              <a:rPr lang="ko-KR" altLang="en-US"/>
              <a:t>관계형 데이터베이스 용어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7A5F735-DFB6-4CB2-B568-F6879DBE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ko-KR" altLang="ko-KR"/>
          </a:p>
        </p:txBody>
      </p:sp>
      <p:sp>
        <p:nvSpPr>
          <p:cNvPr id="24580" name="Line 4">
            <a:extLst>
              <a:ext uri="{FF2B5EF4-FFF2-40B4-BE49-F238E27FC236}">
                <a16:creationId xmlns:a16="http://schemas.microsoft.com/office/drawing/2014/main" id="{36133121-1547-4BDB-9B2E-66198C23BE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8800" y="2438400"/>
            <a:ext cx="15240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5717" name="Group 5">
            <a:extLst>
              <a:ext uri="{FF2B5EF4-FFF2-40B4-BE49-F238E27FC236}">
                <a16:creationId xmlns:a16="http://schemas.microsoft.com/office/drawing/2014/main" id="{11416BF7-B07D-41D9-8E26-F62D88AD01E5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3240088"/>
          <a:ext cx="4800600" cy="2032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tel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김철수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국문학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02-121-2121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박선하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국문학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041-213-4311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안미희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컴퓨터공학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031-132-1231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유창식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컴퓨터공학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02-521-4523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임한솔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산업공학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042-532-1461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25" name="Text Box 49">
            <a:extLst>
              <a:ext uri="{FF2B5EF4-FFF2-40B4-BE49-F238E27FC236}">
                <a16:creationId xmlns:a16="http://schemas.microsoft.com/office/drawing/2014/main" id="{2CC0572A-56E6-4F45-97BF-771BF1C11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895600"/>
            <a:ext cx="8778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STUDENT</a:t>
            </a:r>
          </a:p>
        </p:txBody>
      </p:sp>
      <p:sp>
        <p:nvSpPr>
          <p:cNvPr id="24626" name="AutoShape 50">
            <a:extLst>
              <a:ext uri="{FF2B5EF4-FFF2-40B4-BE49-F238E27FC236}">
                <a16:creationId xmlns:a16="http://schemas.microsoft.com/office/drawing/2014/main" id="{275C9D2E-669B-4431-AC66-7B308567661B}"/>
              </a:ext>
            </a:extLst>
          </p:cNvPr>
          <p:cNvSpPr>
            <a:spLocks/>
          </p:cNvSpPr>
          <p:nvPr/>
        </p:nvSpPr>
        <p:spPr bwMode="auto">
          <a:xfrm>
            <a:off x="1981200" y="2909888"/>
            <a:ext cx="152400" cy="2438400"/>
          </a:xfrm>
          <a:prstGeom prst="lef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4627" name="Text Box 51">
            <a:extLst>
              <a:ext uri="{FF2B5EF4-FFF2-40B4-BE49-F238E27FC236}">
                <a16:creationId xmlns:a16="http://schemas.microsoft.com/office/drawing/2014/main" id="{E08090D6-C230-4B0A-9D2E-A73AE81F2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663" y="3976688"/>
            <a:ext cx="820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릴레이션</a:t>
            </a:r>
          </a:p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(relation)</a:t>
            </a:r>
          </a:p>
        </p:txBody>
      </p:sp>
      <p:sp>
        <p:nvSpPr>
          <p:cNvPr id="24628" name="Text Box 52">
            <a:extLst>
              <a:ext uri="{FF2B5EF4-FFF2-40B4-BE49-F238E27FC236}">
                <a16:creationId xmlns:a16="http://schemas.microsoft.com/office/drawing/2014/main" id="{7822C82F-27B1-4CCA-A17D-0367E5FA2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791200"/>
            <a:ext cx="879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속성</a:t>
            </a:r>
          </a:p>
          <a:p>
            <a:pPr algn="ctr"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(attribute)</a:t>
            </a:r>
          </a:p>
        </p:txBody>
      </p:sp>
      <p:sp>
        <p:nvSpPr>
          <p:cNvPr id="24629" name="Line 53">
            <a:extLst>
              <a:ext uri="{FF2B5EF4-FFF2-40B4-BE49-F238E27FC236}">
                <a16:creationId xmlns:a16="http://schemas.microsoft.com/office/drawing/2014/main" id="{7F463BAB-E372-419B-BBEC-0C65C2CE80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9400" y="5334000"/>
            <a:ext cx="1676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0" name="Line 54">
            <a:extLst>
              <a:ext uri="{FF2B5EF4-FFF2-40B4-BE49-F238E27FC236}">
                <a16:creationId xmlns:a16="http://schemas.microsoft.com/office/drawing/2014/main" id="{FAEE1CA2-8FD2-4591-96C4-94B6308527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33800" y="53340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1" name="Line 55">
            <a:extLst>
              <a:ext uri="{FF2B5EF4-FFF2-40B4-BE49-F238E27FC236}">
                <a16:creationId xmlns:a16="http://schemas.microsoft.com/office/drawing/2014/main" id="{35082FC8-A6BC-47C8-9687-436E71F8FB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5334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2" name="Line 56">
            <a:extLst>
              <a:ext uri="{FF2B5EF4-FFF2-40B4-BE49-F238E27FC236}">
                <a16:creationId xmlns:a16="http://schemas.microsoft.com/office/drawing/2014/main" id="{B6ABA81A-4CCD-4FE8-994F-7F0E736F3A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53340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3" name="Line 57">
            <a:extLst>
              <a:ext uri="{FF2B5EF4-FFF2-40B4-BE49-F238E27FC236}">
                <a16:creationId xmlns:a16="http://schemas.microsoft.com/office/drawing/2014/main" id="{3162CA2D-8518-41BB-8B4B-8A3A62A01E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5334000"/>
            <a:ext cx="1828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4" name="Text Box 58">
            <a:extLst>
              <a:ext uri="{FF2B5EF4-FFF2-40B4-BE49-F238E27FC236}">
                <a16:creationId xmlns:a16="http://schemas.microsoft.com/office/drawing/2014/main" id="{24957039-17D3-40EF-8E1C-A252F3AC4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2413" y="3810000"/>
            <a:ext cx="738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튜플</a:t>
            </a:r>
          </a:p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(tupple)</a:t>
            </a:r>
          </a:p>
        </p:txBody>
      </p:sp>
      <p:sp>
        <p:nvSpPr>
          <p:cNvPr id="24635" name="Line 59">
            <a:extLst>
              <a:ext uri="{FF2B5EF4-FFF2-40B4-BE49-F238E27FC236}">
                <a16:creationId xmlns:a16="http://schemas.microsoft.com/office/drawing/2014/main" id="{B8E5B4D0-65A8-44C0-B45D-27C502BA79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9000" y="38100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6" name="Line 60">
            <a:extLst>
              <a:ext uri="{FF2B5EF4-FFF2-40B4-BE49-F238E27FC236}">
                <a16:creationId xmlns:a16="http://schemas.microsoft.com/office/drawing/2014/main" id="{3E781DED-5D3A-4DB0-8B8A-42A3BF0790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0386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7" name="Line 61">
            <a:extLst>
              <a:ext uri="{FF2B5EF4-FFF2-40B4-BE49-F238E27FC236}">
                <a16:creationId xmlns:a16="http://schemas.microsoft.com/office/drawing/2014/main" id="{6EC06C96-73CE-443F-84B9-6A42ACF0B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038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8" name="Line 62">
            <a:extLst>
              <a:ext uri="{FF2B5EF4-FFF2-40B4-BE49-F238E27FC236}">
                <a16:creationId xmlns:a16="http://schemas.microsoft.com/office/drawing/2014/main" id="{F09E334F-7B06-49AD-A892-A5373F8B05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0386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39" name="Line 63">
            <a:extLst>
              <a:ext uri="{FF2B5EF4-FFF2-40B4-BE49-F238E27FC236}">
                <a16:creationId xmlns:a16="http://schemas.microsoft.com/office/drawing/2014/main" id="{16B3E5EB-1EB6-4B8F-A0DD-608C015F79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038600"/>
            <a:ext cx="6096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0" name="Freeform 64">
            <a:extLst>
              <a:ext uri="{FF2B5EF4-FFF2-40B4-BE49-F238E27FC236}">
                <a16:creationId xmlns:a16="http://schemas.microsoft.com/office/drawing/2014/main" id="{4F70A89A-AD93-4655-86FB-E6A95EEF8194}"/>
              </a:ext>
            </a:extLst>
          </p:cNvPr>
          <p:cNvSpPr>
            <a:spLocks/>
          </p:cNvSpPr>
          <p:nvPr/>
        </p:nvSpPr>
        <p:spPr bwMode="auto">
          <a:xfrm>
            <a:off x="1524000" y="1600200"/>
            <a:ext cx="1079500" cy="698500"/>
          </a:xfrm>
          <a:custGeom>
            <a:avLst/>
            <a:gdLst>
              <a:gd name="T0" fmla="*/ 528340441 w 808"/>
              <a:gd name="T1" fmla="*/ 13189323 h 544"/>
              <a:gd name="T2" fmla="*/ 271309881 w 808"/>
              <a:gd name="T3" fmla="*/ 92325263 h 544"/>
              <a:gd name="T4" fmla="*/ 14279328 w 808"/>
              <a:gd name="T5" fmla="*/ 408871574 h 544"/>
              <a:gd name="T6" fmla="*/ 185633947 w 808"/>
              <a:gd name="T7" fmla="*/ 725416642 h 544"/>
              <a:gd name="T8" fmla="*/ 614017711 w 808"/>
              <a:gd name="T9" fmla="*/ 646280575 h 544"/>
              <a:gd name="T10" fmla="*/ 956725624 w 808"/>
              <a:gd name="T11" fmla="*/ 883689737 h 544"/>
              <a:gd name="T12" fmla="*/ 1385110641 w 808"/>
              <a:gd name="T13" fmla="*/ 567143386 h 544"/>
              <a:gd name="T14" fmla="*/ 1299433370 w 808"/>
              <a:gd name="T15" fmla="*/ 92325263 h 544"/>
              <a:gd name="T16" fmla="*/ 528340441 w 808"/>
              <a:gd name="T17" fmla="*/ 13189323 h 54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808"/>
              <a:gd name="T28" fmla="*/ 0 h 544"/>
              <a:gd name="T29" fmla="*/ 808 w 808"/>
              <a:gd name="T30" fmla="*/ 544 h 54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808" h="544">
                <a:moveTo>
                  <a:pt x="296" y="8"/>
                </a:moveTo>
                <a:cubicBezTo>
                  <a:pt x="200" y="8"/>
                  <a:pt x="200" y="16"/>
                  <a:pt x="152" y="56"/>
                </a:cubicBezTo>
                <a:cubicBezTo>
                  <a:pt x="104" y="96"/>
                  <a:pt x="16" y="184"/>
                  <a:pt x="8" y="248"/>
                </a:cubicBezTo>
                <a:cubicBezTo>
                  <a:pt x="0" y="312"/>
                  <a:pt x="48" y="416"/>
                  <a:pt x="104" y="440"/>
                </a:cubicBezTo>
                <a:cubicBezTo>
                  <a:pt x="160" y="464"/>
                  <a:pt x="272" y="376"/>
                  <a:pt x="344" y="392"/>
                </a:cubicBezTo>
                <a:cubicBezTo>
                  <a:pt x="416" y="408"/>
                  <a:pt x="464" y="544"/>
                  <a:pt x="536" y="536"/>
                </a:cubicBezTo>
                <a:cubicBezTo>
                  <a:pt x="608" y="528"/>
                  <a:pt x="744" y="424"/>
                  <a:pt x="776" y="344"/>
                </a:cubicBezTo>
                <a:cubicBezTo>
                  <a:pt x="808" y="264"/>
                  <a:pt x="808" y="112"/>
                  <a:pt x="728" y="56"/>
                </a:cubicBezTo>
                <a:cubicBezTo>
                  <a:pt x="648" y="0"/>
                  <a:pt x="392" y="8"/>
                  <a:pt x="296" y="8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41" name="Freeform 65">
            <a:extLst>
              <a:ext uri="{FF2B5EF4-FFF2-40B4-BE49-F238E27FC236}">
                <a16:creationId xmlns:a16="http://schemas.microsoft.com/office/drawing/2014/main" id="{143C4A0E-F825-4A28-98B4-C1EDF88F27BB}"/>
              </a:ext>
            </a:extLst>
          </p:cNvPr>
          <p:cNvSpPr>
            <a:spLocks/>
          </p:cNvSpPr>
          <p:nvPr/>
        </p:nvSpPr>
        <p:spPr bwMode="auto">
          <a:xfrm>
            <a:off x="2819400" y="1524000"/>
            <a:ext cx="1041400" cy="901700"/>
          </a:xfrm>
          <a:custGeom>
            <a:avLst/>
            <a:gdLst>
              <a:gd name="T0" fmla="*/ 645159958 w 656"/>
              <a:gd name="T1" fmla="*/ 100806231 h 568"/>
              <a:gd name="T2" fmla="*/ 161289990 w 656"/>
              <a:gd name="T3" fmla="*/ 221773754 h 568"/>
              <a:gd name="T4" fmla="*/ 40322497 w 656"/>
              <a:gd name="T5" fmla="*/ 826611093 h 568"/>
              <a:gd name="T6" fmla="*/ 403224949 w 656"/>
              <a:gd name="T7" fmla="*/ 1310481084 h 568"/>
              <a:gd name="T8" fmla="*/ 1370964887 w 656"/>
              <a:gd name="T9" fmla="*/ 1310481084 h 568"/>
              <a:gd name="T10" fmla="*/ 1612899797 w 656"/>
              <a:gd name="T11" fmla="*/ 584676197 h 568"/>
              <a:gd name="T12" fmla="*/ 1491932342 w 656"/>
              <a:gd name="T13" fmla="*/ 100806231 h 568"/>
              <a:gd name="T14" fmla="*/ 645159958 w 656"/>
              <a:gd name="T15" fmla="*/ 100806231 h 5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56"/>
              <a:gd name="T25" fmla="*/ 0 h 568"/>
              <a:gd name="T26" fmla="*/ 656 w 656"/>
              <a:gd name="T27" fmla="*/ 568 h 5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56" h="568">
                <a:moveTo>
                  <a:pt x="256" y="40"/>
                </a:moveTo>
                <a:cubicBezTo>
                  <a:pt x="168" y="48"/>
                  <a:pt x="104" y="40"/>
                  <a:pt x="64" y="88"/>
                </a:cubicBezTo>
                <a:cubicBezTo>
                  <a:pt x="24" y="136"/>
                  <a:pt x="0" y="256"/>
                  <a:pt x="16" y="328"/>
                </a:cubicBezTo>
                <a:cubicBezTo>
                  <a:pt x="32" y="400"/>
                  <a:pt x="72" y="488"/>
                  <a:pt x="160" y="520"/>
                </a:cubicBezTo>
                <a:cubicBezTo>
                  <a:pt x="248" y="552"/>
                  <a:pt x="464" y="568"/>
                  <a:pt x="544" y="520"/>
                </a:cubicBezTo>
                <a:cubicBezTo>
                  <a:pt x="624" y="472"/>
                  <a:pt x="632" y="312"/>
                  <a:pt x="640" y="232"/>
                </a:cubicBezTo>
                <a:cubicBezTo>
                  <a:pt x="648" y="152"/>
                  <a:pt x="656" y="80"/>
                  <a:pt x="592" y="40"/>
                </a:cubicBezTo>
                <a:cubicBezTo>
                  <a:pt x="528" y="0"/>
                  <a:pt x="344" y="32"/>
                  <a:pt x="256" y="40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42" name="Freeform 66">
            <a:extLst>
              <a:ext uri="{FF2B5EF4-FFF2-40B4-BE49-F238E27FC236}">
                <a16:creationId xmlns:a16="http://schemas.microsoft.com/office/drawing/2014/main" id="{4A73F25B-340E-4447-92AB-CDA9AD356AC0}"/>
              </a:ext>
            </a:extLst>
          </p:cNvPr>
          <p:cNvSpPr>
            <a:spLocks/>
          </p:cNvSpPr>
          <p:nvPr/>
        </p:nvSpPr>
        <p:spPr bwMode="auto">
          <a:xfrm>
            <a:off x="5257800" y="1524000"/>
            <a:ext cx="1066800" cy="927100"/>
          </a:xfrm>
          <a:custGeom>
            <a:avLst/>
            <a:gdLst>
              <a:gd name="T0" fmla="*/ 177031888 w 600"/>
              <a:gd name="T1" fmla="*/ 181451224 h 584"/>
              <a:gd name="T2" fmla="*/ 632256765 w 600"/>
              <a:gd name="T3" fmla="*/ 60483750 h 584"/>
              <a:gd name="T4" fmla="*/ 935740128 w 600"/>
              <a:gd name="T5" fmla="*/ 302418723 h 584"/>
              <a:gd name="T6" fmla="*/ 1542706409 w 600"/>
              <a:gd name="T7" fmla="*/ 60483750 h 584"/>
              <a:gd name="T8" fmla="*/ 1846189549 w 600"/>
              <a:gd name="T9" fmla="*/ 665321170 h 584"/>
              <a:gd name="T10" fmla="*/ 1239223268 w 600"/>
              <a:gd name="T11" fmla="*/ 1391126065 h 584"/>
              <a:gd name="T12" fmla="*/ 177031888 w 600"/>
              <a:gd name="T13" fmla="*/ 1149191166 h 584"/>
              <a:gd name="T14" fmla="*/ 177031888 w 600"/>
              <a:gd name="T15" fmla="*/ 181451224 h 58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00"/>
              <a:gd name="T25" fmla="*/ 0 h 584"/>
              <a:gd name="T26" fmla="*/ 600 w 600"/>
              <a:gd name="T27" fmla="*/ 584 h 58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00" h="584">
                <a:moveTo>
                  <a:pt x="56" y="72"/>
                </a:moveTo>
                <a:cubicBezTo>
                  <a:pt x="80" y="0"/>
                  <a:pt x="160" y="16"/>
                  <a:pt x="200" y="24"/>
                </a:cubicBezTo>
                <a:cubicBezTo>
                  <a:pt x="240" y="32"/>
                  <a:pt x="248" y="120"/>
                  <a:pt x="296" y="120"/>
                </a:cubicBezTo>
                <a:cubicBezTo>
                  <a:pt x="344" y="120"/>
                  <a:pt x="440" y="0"/>
                  <a:pt x="488" y="24"/>
                </a:cubicBezTo>
                <a:cubicBezTo>
                  <a:pt x="536" y="48"/>
                  <a:pt x="600" y="176"/>
                  <a:pt x="584" y="264"/>
                </a:cubicBezTo>
                <a:cubicBezTo>
                  <a:pt x="568" y="352"/>
                  <a:pt x="480" y="520"/>
                  <a:pt x="392" y="552"/>
                </a:cubicBezTo>
                <a:cubicBezTo>
                  <a:pt x="304" y="584"/>
                  <a:pt x="112" y="536"/>
                  <a:pt x="56" y="456"/>
                </a:cubicBezTo>
                <a:cubicBezTo>
                  <a:pt x="0" y="376"/>
                  <a:pt x="32" y="144"/>
                  <a:pt x="56" y="72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43" name="Freeform 67">
            <a:extLst>
              <a:ext uri="{FF2B5EF4-FFF2-40B4-BE49-F238E27FC236}">
                <a16:creationId xmlns:a16="http://schemas.microsoft.com/office/drawing/2014/main" id="{46795726-A815-4C6D-8347-B1F57866B2FC}"/>
              </a:ext>
            </a:extLst>
          </p:cNvPr>
          <p:cNvSpPr>
            <a:spLocks/>
          </p:cNvSpPr>
          <p:nvPr/>
        </p:nvSpPr>
        <p:spPr bwMode="auto">
          <a:xfrm>
            <a:off x="3890963" y="1295400"/>
            <a:ext cx="1371600" cy="1168400"/>
          </a:xfrm>
          <a:custGeom>
            <a:avLst/>
            <a:gdLst>
              <a:gd name="T0" fmla="*/ 1609441993 w 704"/>
              <a:gd name="T1" fmla="*/ 62323867 h 592"/>
              <a:gd name="T2" fmla="*/ 516236015 w 704"/>
              <a:gd name="T3" fmla="*/ 249299414 h 592"/>
              <a:gd name="T4" fmla="*/ 151834570 w 704"/>
              <a:gd name="T5" fmla="*/ 1558114539 h 592"/>
              <a:gd name="T6" fmla="*/ 1427241362 w 704"/>
              <a:gd name="T7" fmla="*/ 2147483647 h 592"/>
              <a:gd name="T8" fmla="*/ 2147483647 w 704"/>
              <a:gd name="T9" fmla="*/ 1558114539 h 592"/>
              <a:gd name="T10" fmla="*/ 2147483647 w 704"/>
              <a:gd name="T11" fmla="*/ 436273004 h 592"/>
              <a:gd name="T12" fmla="*/ 1609441993 w 704"/>
              <a:gd name="T13" fmla="*/ 62323867 h 5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4"/>
              <a:gd name="T22" fmla="*/ 0 h 592"/>
              <a:gd name="T23" fmla="*/ 704 w 704"/>
              <a:gd name="T24" fmla="*/ 592 h 5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4" h="592">
                <a:moveTo>
                  <a:pt x="424" y="16"/>
                </a:moveTo>
                <a:cubicBezTo>
                  <a:pt x="344" y="8"/>
                  <a:pt x="200" y="0"/>
                  <a:pt x="136" y="64"/>
                </a:cubicBezTo>
                <a:cubicBezTo>
                  <a:pt x="72" y="128"/>
                  <a:pt x="0" y="312"/>
                  <a:pt x="40" y="400"/>
                </a:cubicBezTo>
                <a:cubicBezTo>
                  <a:pt x="80" y="488"/>
                  <a:pt x="272" y="592"/>
                  <a:pt x="376" y="592"/>
                </a:cubicBezTo>
                <a:cubicBezTo>
                  <a:pt x="480" y="592"/>
                  <a:pt x="624" y="480"/>
                  <a:pt x="664" y="400"/>
                </a:cubicBezTo>
                <a:cubicBezTo>
                  <a:pt x="704" y="320"/>
                  <a:pt x="656" y="176"/>
                  <a:pt x="616" y="112"/>
                </a:cubicBezTo>
                <a:cubicBezTo>
                  <a:pt x="576" y="48"/>
                  <a:pt x="504" y="24"/>
                  <a:pt x="424" y="16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44" name="Freeform 68">
            <a:extLst>
              <a:ext uri="{FF2B5EF4-FFF2-40B4-BE49-F238E27FC236}">
                <a16:creationId xmlns:a16="http://schemas.microsoft.com/office/drawing/2014/main" id="{7FC87ECF-8D0D-48C2-AD60-2A8B6E62C6EF}"/>
              </a:ext>
            </a:extLst>
          </p:cNvPr>
          <p:cNvSpPr>
            <a:spLocks/>
          </p:cNvSpPr>
          <p:nvPr/>
        </p:nvSpPr>
        <p:spPr bwMode="auto">
          <a:xfrm>
            <a:off x="6553200" y="1524000"/>
            <a:ext cx="889000" cy="965200"/>
          </a:xfrm>
          <a:custGeom>
            <a:avLst/>
            <a:gdLst>
              <a:gd name="T0" fmla="*/ 224013449 w 672"/>
              <a:gd name="T1" fmla="*/ 1233989213 h 664"/>
              <a:gd name="T2" fmla="*/ 308018627 w 672"/>
              <a:gd name="T3" fmla="*/ 1031141751 h 664"/>
              <a:gd name="T4" fmla="*/ 476029065 w 672"/>
              <a:gd name="T5" fmla="*/ 1031141751 h 664"/>
              <a:gd name="T6" fmla="*/ 644039421 w 672"/>
              <a:gd name="T7" fmla="*/ 1233989213 h 664"/>
              <a:gd name="T8" fmla="*/ 1064065475 w 672"/>
              <a:gd name="T9" fmla="*/ 1031141751 h 664"/>
              <a:gd name="T10" fmla="*/ 1064065475 w 672"/>
              <a:gd name="T11" fmla="*/ 422599182 h 664"/>
              <a:gd name="T12" fmla="*/ 392023888 w 672"/>
              <a:gd name="T13" fmla="*/ 16904082 h 664"/>
              <a:gd name="T14" fmla="*/ 56003032 w 672"/>
              <a:gd name="T15" fmla="*/ 321174634 h 664"/>
              <a:gd name="T16" fmla="*/ 56003032 w 672"/>
              <a:gd name="T17" fmla="*/ 828294288 h 664"/>
              <a:gd name="T18" fmla="*/ 140008230 w 672"/>
              <a:gd name="T19" fmla="*/ 1335412217 h 664"/>
              <a:gd name="T20" fmla="*/ 224013449 w 672"/>
              <a:gd name="T21" fmla="*/ 1233989213 h 6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72"/>
              <a:gd name="T34" fmla="*/ 0 h 664"/>
              <a:gd name="T35" fmla="*/ 672 w 672"/>
              <a:gd name="T36" fmla="*/ 664 h 6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72" h="664">
                <a:moveTo>
                  <a:pt x="128" y="584"/>
                </a:moveTo>
                <a:cubicBezTo>
                  <a:pt x="144" y="560"/>
                  <a:pt x="152" y="504"/>
                  <a:pt x="176" y="488"/>
                </a:cubicBezTo>
                <a:cubicBezTo>
                  <a:pt x="200" y="472"/>
                  <a:pt x="240" y="472"/>
                  <a:pt x="272" y="488"/>
                </a:cubicBezTo>
                <a:cubicBezTo>
                  <a:pt x="304" y="504"/>
                  <a:pt x="312" y="584"/>
                  <a:pt x="368" y="584"/>
                </a:cubicBezTo>
                <a:cubicBezTo>
                  <a:pt x="424" y="584"/>
                  <a:pt x="568" y="552"/>
                  <a:pt x="608" y="488"/>
                </a:cubicBezTo>
                <a:cubicBezTo>
                  <a:pt x="648" y="424"/>
                  <a:pt x="672" y="280"/>
                  <a:pt x="608" y="200"/>
                </a:cubicBezTo>
                <a:cubicBezTo>
                  <a:pt x="544" y="120"/>
                  <a:pt x="320" y="16"/>
                  <a:pt x="224" y="8"/>
                </a:cubicBezTo>
                <a:cubicBezTo>
                  <a:pt x="128" y="0"/>
                  <a:pt x="64" y="88"/>
                  <a:pt x="32" y="152"/>
                </a:cubicBezTo>
                <a:cubicBezTo>
                  <a:pt x="0" y="216"/>
                  <a:pt x="24" y="312"/>
                  <a:pt x="32" y="392"/>
                </a:cubicBezTo>
                <a:cubicBezTo>
                  <a:pt x="40" y="472"/>
                  <a:pt x="64" y="600"/>
                  <a:pt x="80" y="632"/>
                </a:cubicBezTo>
                <a:cubicBezTo>
                  <a:pt x="96" y="664"/>
                  <a:pt x="112" y="608"/>
                  <a:pt x="128" y="584"/>
                </a:cubicBezTo>
                <a:close/>
              </a:path>
            </a:pathLst>
          </a:cu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645" name="Line 69">
            <a:extLst>
              <a:ext uri="{FF2B5EF4-FFF2-40B4-BE49-F238E27FC236}">
                <a16:creationId xmlns:a16="http://schemas.microsoft.com/office/drawing/2014/main" id="{0A2CFDC8-C480-4992-8181-A4BEBF228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2860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6" name="Line 70">
            <a:extLst>
              <a:ext uri="{FF2B5EF4-FFF2-40B4-BE49-F238E27FC236}">
                <a16:creationId xmlns:a16="http://schemas.microsoft.com/office/drawing/2014/main" id="{63A04D4C-F515-44AB-86C7-C704C21B9E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4384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7" name="Line 71">
            <a:extLst>
              <a:ext uri="{FF2B5EF4-FFF2-40B4-BE49-F238E27FC236}">
                <a16:creationId xmlns:a16="http://schemas.microsoft.com/office/drawing/2014/main" id="{02E37A21-5D55-427A-9287-6942223F3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438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8" name="Line 72">
            <a:extLst>
              <a:ext uri="{FF2B5EF4-FFF2-40B4-BE49-F238E27FC236}">
                <a16:creationId xmlns:a16="http://schemas.microsoft.com/office/drawing/2014/main" id="{B96C8D0D-C8E8-476A-8F28-0EA92F3162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2362200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49" name="Text Box 73">
            <a:extLst>
              <a:ext uri="{FF2B5EF4-FFF2-40B4-BE49-F238E27FC236}">
                <a16:creationId xmlns:a16="http://schemas.microsoft.com/office/drawing/2014/main" id="{63E09E4F-E68C-490A-A01F-C548D8036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433513"/>
            <a:ext cx="94615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영문학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국문학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컴퓨터공학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산업공학</a:t>
            </a:r>
          </a:p>
          <a:p>
            <a:pPr algn="ctr" eaLnBrk="1" hangingPunct="1"/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…</a:t>
            </a:r>
          </a:p>
        </p:txBody>
      </p:sp>
      <p:sp>
        <p:nvSpPr>
          <p:cNvPr id="24650" name="Text Box 74">
            <a:extLst>
              <a:ext uri="{FF2B5EF4-FFF2-40B4-BE49-F238E27FC236}">
                <a16:creationId xmlns:a16="http://schemas.microsoft.com/office/drawing/2014/main" id="{6150AF27-57DD-4A4D-BC2E-73683D104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1322388"/>
            <a:ext cx="4286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굴림" panose="020B0600000101010101" pitchFamily="34" charset="-127"/>
                <a:ea typeface="굴림" panose="020B0600000101010101" pitchFamily="34" charset="-127"/>
              </a:rPr>
              <a:t>SID</a:t>
            </a:r>
          </a:p>
        </p:txBody>
      </p:sp>
      <p:sp>
        <p:nvSpPr>
          <p:cNvPr id="24651" name="Text Box 75">
            <a:extLst>
              <a:ext uri="{FF2B5EF4-FFF2-40B4-BE49-F238E27FC236}">
                <a16:creationId xmlns:a16="http://schemas.microsoft.com/office/drawing/2014/main" id="{60D51F47-E91A-4DFA-9252-15F733279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295400"/>
            <a:ext cx="6016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굴림" panose="020B0600000101010101" pitchFamily="34" charset="-127"/>
                <a:ea typeface="굴림" panose="020B0600000101010101" pitchFamily="34" charset="-127"/>
              </a:rPr>
              <a:t>NAME</a:t>
            </a:r>
          </a:p>
        </p:txBody>
      </p:sp>
      <p:sp>
        <p:nvSpPr>
          <p:cNvPr id="24652" name="Text Box 76">
            <a:extLst>
              <a:ext uri="{FF2B5EF4-FFF2-40B4-BE49-F238E27FC236}">
                <a16:creationId xmlns:a16="http://schemas.microsoft.com/office/drawing/2014/main" id="{2B7D9CDD-51B2-40B8-A0F7-D0B8ECCCA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066800"/>
            <a:ext cx="5683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굴림" panose="020B0600000101010101" pitchFamily="34" charset="-127"/>
                <a:ea typeface="굴림" panose="020B0600000101010101" pitchFamily="34" charset="-127"/>
              </a:rPr>
              <a:t>DEPT</a:t>
            </a:r>
          </a:p>
        </p:txBody>
      </p:sp>
      <p:sp>
        <p:nvSpPr>
          <p:cNvPr id="24653" name="Text Box 77">
            <a:extLst>
              <a:ext uri="{FF2B5EF4-FFF2-40B4-BE49-F238E27FC236}">
                <a16:creationId xmlns:a16="http://schemas.microsoft.com/office/drawing/2014/main" id="{C73D6667-74C0-4837-B9DE-B8C7270DB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219200"/>
            <a:ext cx="666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굴림" panose="020B0600000101010101" pitchFamily="34" charset="-127"/>
                <a:ea typeface="굴림" panose="020B0600000101010101" pitchFamily="34" charset="-127"/>
              </a:rPr>
              <a:t>TELNO</a:t>
            </a:r>
          </a:p>
        </p:txBody>
      </p:sp>
      <p:sp>
        <p:nvSpPr>
          <p:cNvPr id="24654" name="Text Box 78">
            <a:extLst>
              <a:ext uri="{FF2B5EF4-FFF2-40B4-BE49-F238E27FC236}">
                <a16:creationId xmlns:a16="http://schemas.microsoft.com/office/drawing/2014/main" id="{2BB1BED9-9416-451F-8D89-932783274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249363"/>
            <a:ext cx="4905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굴림" panose="020B0600000101010101" pitchFamily="34" charset="-127"/>
                <a:ea typeface="굴림" panose="020B0600000101010101" pitchFamily="34" charset="-127"/>
              </a:rPr>
              <a:t>AGE</a:t>
            </a:r>
          </a:p>
        </p:txBody>
      </p:sp>
      <p:sp>
        <p:nvSpPr>
          <p:cNvPr id="24655" name="AutoShape 79">
            <a:extLst>
              <a:ext uri="{FF2B5EF4-FFF2-40B4-BE49-F238E27FC236}">
                <a16:creationId xmlns:a16="http://schemas.microsoft.com/office/drawing/2014/main" id="{A1AE2188-BB64-4839-9D26-A178CBDD6EEB}"/>
              </a:ext>
            </a:extLst>
          </p:cNvPr>
          <p:cNvSpPr>
            <a:spLocks/>
          </p:cNvSpPr>
          <p:nvPr/>
        </p:nvSpPr>
        <p:spPr bwMode="auto">
          <a:xfrm>
            <a:off x="7696200" y="1295400"/>
            <a:ext cx="76200" cy="1066800"/>
          </a:xfrm>
          <a:prstGeom prst="rightBrace">
            <a:avLst>
              <a:gd name="adj1" fmla="val 1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4656" name="Text Box 80">
            <a:extLst>
              <a:ext uri="{FF2B5EF4-FFF2-40B4-BE49-F238E27FC236}">
                <a16:creationId xmlns:a16="http://schemas.microsoft.com/office/drawing/2014/main" id="{AE1F7D04-4155-45EC-BB1C-B4853E014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600200"/>
            <a:ext cx="82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도메인</a:t>
            </a:r>
          </a:p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(domain)</a:t>
            </a:r>
          </a:p>
        </p:txBody>
      </p:sp>
      <p:sp>
        <p:nvSpPr>
          <p:cNvPr id="24657" name="Text Box 81">
            <a:extLst>
              <a:ext uri="{FF2B5EF4-FFF2-40B4-BE49-F238E27FC236}">
                <a16:creationId xmlns:a16="http://schemas.microsoft.com/office/drawing/2014/main" id="{51EDB2BC-73F7-41E0-BC5C-FF2FBED5B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6019800"/>
            <a:ext cx="224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1.7&gt; </a:t>
            </a:r>
            <a:r>
              <a:rPr lang="ko-KR" altLang="en-US" sz="1400" b="1"/>
              <a:t>학생 릴레이션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A5CE7609-81C1-4F34-A192-FF891DA4B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1.2 </a:t>
            </a:r>
            <a:r>
              <a:rPr lang="ko-KR" altLang="en-US"/>
              <a:t>관계형 데이터베이스 용어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6EFE6F0-5E05-4445-AD72-384628F26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Char char="ø"/>
            </a:pPr>
            <a:r>
              <a:rPr lang="en-US" altLang="ko-KR"/>
              <a:t>&lt;</a:t>
            </a:r>
            <a:r>
              <a:rPr lang="ko-KR" altLang="en-US"/>
              <a:t>그림 </a:t>
            </a:r>
            <a:r>
              <a:rPr lang="en-US" altLang="ko-KR"/>
              <a:t>1.7&gt;</a:t>
            </a:r>
            <a:r>
              <a:rPr lang="ko-KR" altLang="en-US"/>
              <a:t>에서 사용한 용어들은 </a:t>
            </a:r>
            <a:r>
              <a:rPr lang="en-US" altLang="ko-KR"/>
              <a:t>E.F.Codd</a:t>
            </a:r>
            <a:r>
              <a:rPr lang="ko-KR" altLang="en-US"/>
              <a:t>가 정의한 것으로 오늘날 일반적으로 사용하는 용어와는 차이가 있음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ko-KR" altLang="en-US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ko-KR" altLang="en-US">
                <a:solidFill>
                  <a:srgbClr val="000099"/>
                </a:solidFill>
              </a:rPr>
              <a:t>릴레이션</a:t>
            </a:r>
            <a:r>
              <a:rPr lang="en-US" altLang="ko-KR">
                <a:solidFill>
                  <a:srgbClr val="000099"/>
                </a:solidFill>
              </a:rPr>
              <a:t>(relation)</a:t>
            </a:r>
          </a:p>
          <a:p>
            <a:pPr lvl="1" eaLnBrk="1" hangingPunct="1"/>
            <a:r>
              <a:rPr lang="ko-KR" altLang="en-US"/>
              <a:t>테이블이라는 용어로 더 많이 사용</a:t>
            </a:r>
            <a:endParaRPr lang="en-US" altLang="ko-KR"/>
          </a:p>
          <a:p>
            <a:pPr lvl="1" eaLnBrk="1" hangingPunct="1"/>
            <a:r>
              <a:rPr lang="ko-KR" altLang="en-US"/>
              <a:t>관계형 데이테베이스에서 정보를 구분하여 저장하는 기본 단위</a:t>
            </a:r>
          </a:p>
          <a:p>
            <a:pPr lvl="2" eaLnBrk="1" hangingPunct="1"/>
            <a:r>
              <a:rPr lang="en-US" altLang="ko-KR"/>
              <a:t>STUDENT </a:t>
            </a:r>
            <a:r>
              <a:rPr lang="ko-KR" altLang="en-US"/>
              <a:t>릴레이션 </a:t>
            </a:r>
            <a:r>
              <a:rPr lang="en-US" altLang="ko-KR"/>
              <a:t>: </a:t>
            </a:r>
            <a:r>
              <a:rPr lang="ko-KR" altLang="en-US"/>
              <a:t>학생에 관한 정보를 저장</a:t>
            </a:r>
          </a:p>
          <a:p>
            <a:pPr lvl="2" eaLnBrk="1" hangingPunct="1"/>
            <a:r>
              <a:rPr lang="en-US" altLang="ko-KR"/>
              <a:t>SUBJECT</a:t>
            </a:r>
            <a:r>
              <a:rPr lang="ko-KR" altLang="en-US"/>
              <a:t>라는 릴레이션 </a:t>
            </a:r>
            <a:r>
              <a:rPr lang="en-US" altLang="ko-KR"/>
              <a:t>: </a:t>
            </a:r>
            <a:r>
              <a:rPr lang="ko-KR" altLang="en-US"/>
              <a:t>과목에 대한 정보를 저장</a:t>
            </a:r>
          </a:p>
          <a:p>
            <a:pPr lvl="1" eaLnBrk="1" hangingPunct="1"/>
            <a:r>
              <a:rPr lang="ko-KR" altLang="en-US"/>
              <a:t>동일한 데이터베이스 내에서는 같은 이름을 갖는 릴레이션이 존재할 수 없음</a:t>
            </a:r>
          </a:p>
          <a:p>
            <a:pPr eaLnBrk="1" hangingPunct="1"/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DCB48C5-1ED8-475D-8B1F-7D2BAAE12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1.2 </a:t>
            </a:r>
            <a:r>
              <a:rPr lang="ko-KR" altLang="en-US"/>
              <a:t>관계형 데이터베이스 용어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6B33D40-3ABE-48BC-813E-5D3A8D2D0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ko-KR" altLang="en-US">
                <a:solidFill>
                  <a:srgbClr val="000099"/>
                </a:solidFill>
              </a:rPr>
              <a:t>속성</a:t>
            </a:r>
            <a:r>
              <a:rPr lang="en-US" altLang="ko-KR">
                <a:solidFill>
                  <a:srgbClr val="000099"/>
                </a:solidFill>
              </a:rPr>
              <a:t>(attribute)</a:t>
            </a:r>
          </a:p>
          <a:p>
            <a:pPr lvl="1" eaLnBrk="1" hangingPunct="1"/>
            <a:r>
              <a:rPr lang="ko-KR" altLang="en-US"/>
              <a:t>릴레이션에서 관리하는 구체적인 정보 항목에 해당하는 것이 속성</a:t>
            </a:r>
          </a:p>
          <a:p>
            <a:pPr lvl="1" eaLnBrk="1" hangingPunct="1"/>
            <a:r>
              <a:rPr lang="ko-KR" altLang="en-US"/>
              <a:t>현실세계의 개체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학생</a:t>
            </a:r>
            <a:r>
              <a:rPr lang="en-US" altLang="ko-KR"/>
              <a:t>, </a:t>
            </a:r>
            <a:r>
              <a:rPr lang="ko-KR" altLang="en-US"/>
              <a:t>교수</a:t>
            </a:r>
            <a:r>
              <a:rPr lang="en-US" altLang="ko-KR"/>
              <a:t>, </a:t>
            </a:r>
            <a:r>
              <a:rPr lang="ko-KR" altLang="en-US"/>
              <a:t>과목</a:t>
            </a:r>
            <a:r>
              <a:rPr lang="en-US" altLang="ko-KR"/>
              <a:t>,...)</a:t>
            </a:r>
            <a:r>
              <a:rPr lang="ko-KR" altLang="en-US"/>
              <a:t>들은 많은 속성들을 갖는데 그중에서 관리해야할 필요가 있는 속성들만을 선택하여 릴레이션에 포함시킴</a:t>
            </a:r>
          </a:p>
          <a:p>
            <a:pPr lvl="1" eaLnBrk="1" hangingPunct="1"/>
            <a:r>
              <a:rPr lang="ko-KR" altLang="en-US"/>
              <a:t>속성 역시 고유한 이름을 갖으며 동일 릴레이션 내에서는 같은 이름의 속성이 존재할 수 없음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ko-KR" altLang="en-US">
                <a:solidFill>
                  <a:srgbClr val="000099"/>
                </a:solidFill>
              </a:rPr>
              <a:t>튜플</a:t>
            </a:r>
            <a:r>
              <a:rPr lang="en-US" altLang="ko-KR">
                <a:solidFill>
                  <a:srgbClr val="000099"/>
                </a:solidFill>
              </a:rPr>
              <a:t>(tuple)</a:t>
            </a:r>
          </a:p>
          <a:p>
            <a:pPr lvl="1" eaLnBrk="1" hangingPunct="1"/>
            <a:r>
              <a:rPr lang="ko-KR" altLang="en-US"/>
              <a:t>릴레이션이 현실세계의 어떤 개체를 표현한다면 튜플은 그 개체에 속한 구성원들 개개의 정보를 표현</a:t>
            </a:r>
          </a:p>
          <a:p>
            <a:pPr lvl="1" eaLnBrk="1" hangingPunct="1"/>
            <a:r>
              <a:rPr lang="ko-KR" altLang="en-US"/>
              <a:t>예</a:t>
            </a:r>
            <a:r>
              <a:rPr lang="en-US" altLang="ko-KR"/>
              <a:t>) </a:t>
            </a:r>
            <a:r>
              <a:rPr lang="ko-KR" altLang="en-US"/>
              <a:t>학생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ko-KR" altLang="en-US"/>
              <a:t>은 개체를 나타내는 이름이고 </a:t>
            </a:r>
            <a:r>
              <a:rPr lang="ko-KR" altLang="en-US">
                <a:latin typeface="Times New Roman" panose="02020603050405020304" pitchFamily="18" charset="0"/>
              </a:rPr>
              <a:t>‘</a:t>
            </a:r>
            <a:r>
              <a:rPr lang="ko-KR" altLang="en-US"/>
              <a:t>김철수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en-US" altLang="ko-KR"/>
              <a:t>, </a:t>
            </a:r>
            <a:r>
              <a:rPr lang="en-US" altLang="ko-KR">
                <a:latin typeface="Times New Roman" panose="02020603050405020304" pitchFamily="18" charset="0"/>
              </a:rPr>
              <a:t>‘</a:t>
            </a:r>
            <a:r>
              <a:rPr lang="ko-KR" altLang="en-US"/>
              <a:t>박선하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en-US" altLang="ko-KR"/>
              <a:t>, </a:t>
            </a:r>
            <a:r>
              <a:rPr lang="en-US" altLang="ko-KR">
                <a:latin typeface="Times New Roman" panose="02020603050405020304" pitchFamily="18" charset="0"/>
              </a:rPr>
              <a:t>‘</a:t>
            </a:r>
            <a:r>
              <a:rPr lang="ko-KR" altLang="en-US"/>
              <a:t>안미희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en-US" altLang="ko-KR"/>
              <a:t>,.. </a:t>
            </a:r>
            <a:r>
              <a:rPr lang="ko-KR" altLang="en-US"/>
              <a:t>등은 </a:t>
            </a:r>
            <a:r>
              <a:rPr lang="ko-KR" altLang="en-US">
                <a:latin typeface="Times New Roman" panose="02020603050405020304" pitchFamily="18" charset="0"/>
              </a:rPr>
              <a:t>‘</a:t>
            </a:r>
            <a:r>
              <a:rPr lang="ko-KR" altLang="en-US"/>
              <a:t>학생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ko-KR" altLang="en-US"/>
              <a:t> 개체의 구성원</a:t>
            </a:r>
          </a:p>
          <a:p>
            <a:pPr lvl="1" eaLnBrk="1" hangingPunct="1"/>
            <a:r>
              <a:rPr lang="ko-KR" altLang="en-US"/>
              <a:t>한 릴레이션에 포함된 튜플의 개수는 시간에 따라 변할 수 있으며</a:t>
            </a:r>
            <a:r>
              <a:rPr lang="en-US" altLang="ko-KR"/>
              <a:t>, </a:t>
            </a:r>
            <a:r>
              <a:rPr lang="ko-KR" altLang="en-US"/>
              <a:t>한 릴레이션은 적게는 수십 개 많게는 수십만 개의 튜플을 포함할 수 있음</a:t>
            </a:r>
          </a:p>
          <a:p>
            <a:pPr lvl="1" eaLnBrk="1" hangingPunct="1"/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F8D69C9A-3690-43DF-A1B8-3C7073E658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1.2 </a:t>
            </a:r>
            <a:r>
              <a:rPr lang="ko-KR" altLang="en-US"/>
              <a:t>관계형 데이터베이스 용어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F36301B-7D4B-454C-9E55-1DD84A7AD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ko-KR" altLang="en-US">
                <a:solidFill>
                  <a:srgbClr val="000099"/>
                </a:solidFill>
              </a:rPr>
              <a:t>도메인</a:t>
            </a:r>
            <a:r>
              <a:rPr lang="en-US" altLang="ko-KR">
                <a:solidFill>
                  <a:srgbClr val="000099"/>
                </a:solidFill>
              </a:rPr>
              <a:t>(domain)</a:t>
            </a:r>
          </a:p>
          <a:p>
            <a:pPr lvl="1" eaLnBrk="1" hangingPunct="1"/>
            <a:r>
              <a:rPr lang="ko-KR" altLang="en-US"/>
              <a:t>도메인이란 릴레이션에 포함된 각각의 속성들이 갖을 수 있는 값들의 집합</a:t>
            </a:r>
          </a:p>
          <a:p>
            <a:pPr lvl="1" eaLnBrk="1" hangingPunct="1"/>
            <a:r>
              <a:rPr lang="ko-KR" altLang="en-US"/>
              <a:t>도메인이라는 개념이 필요한 이유는 릴레이션에 저장되는 데이터 값들이 본래 의도했던 값들만 저장되고 관리되도록 하는데 있음</a:t>
            </a:r>
          </a:p>
          <a:p>
            <a:pPr lvl="1" eaLnBrk="1" hangingPunct="1"/>
            <a:r>
              <a:rPr lang="ko-KR" altLang="en-US"/>
              <a:t>예</a:t>
            </a:r>
            <a:r>
              <a:rPr lang="en-US" altLang="ko-KR"/>
              <a:t>)</a:t>
            </a:r>
            <a:r>
              <a:rPr lang="en-US" altLang="ko-KR">
                <a:latin typeface="Times New Roman" panose="02020603050405020304" pitchFamily="18" charset="0"/>
              </a:rPr>
              <a:t>‘</a:t>
            </a:r>
            <a:r>
              <a:rPr lang="ko-KR" altLang="en-US"/>
              <a:t>성별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ko-KR" altLang="en-US"/>
              <a:t>이라는 속성이 있다면 이 속성이 가질 수 있는 값은 </a:t>
            </a:r>
            <a:r>
              <a:rPr lang="en-US" altLang="ko-KR"/>
              <a:t>{</a:t>
            </a:r>
            <a:r>
              <a:rPr lang="ko-KR" altLang="en-US"/>
              <a:t>남</a:t>
            </a:r>
            <a:r>
              <a:rPr lang="en-US" altLang="ko-KR"/>
              <a:t>,</a:t>
            </a:r>
            <a:r>
              <a:rPr lang="ko-KR" altLang="en-US"/>
              <a:t>여</a:t>
            </a:r>
            <a:r>
              <a:rPr lang="en-US" altLang="ko-KR"/>
              <a:t>}</a:t>
            </a:r>
          </a:p>
          <a:p>
            <a:pPr lvl="2" eaLnBrk="1" hangingPunct="1"/>
            <a:r>
              <a:rPr lang="ko-KR" altLang="en-US"/>
              <a:t>데이터베이스 설계자는 성별의 도메인으로 </a:t>
            </a:r>
            <a:r>
              <a:rPr lang="ko-KR" altLang="en-US">
                <a:latin typeface="Times New Roman" panose="02020603050405020304" pitchFamily="18" charset="0"/>
              </a:rPr>
              <a:t>‘</a:t>
            </a:r>
            <a:r>
              <a:rPr lang="en-US" altLang="ko-KR"/>
              <a:t>SEX'</a:t>
            </a:r>
            <a:r>
              <a:rPr lang="ko-KR" altLang="en-US"/>
              <a:t>를 정의하고 그 값으로 </a:t>
            </a:r>
            <a:r>
              <a:rPr lang="en-US" altLang="ko-KR"/>
              <a:t>{</a:t>
            </a:r>
            <a:r>
              <a:rPr lang="ko-KR" altLang="en-US"/>
              <a:t>남</a:t>
            </a:r>
            <a:r>
              <a:rPr lang="en-US" altLang="ko-KR"/>
              <a:t>,</a:t>
            </a:r>
            <a:r>
              <a:rPr lang="ko-KR" altLang="en-US"/>
              <a:t>여</a:t>
            </a:r>
            <a:r>
              <a:rPr lang="en-US" altLang="ko-KR"/>
              <a:t>}</a:t>
            </a:r>
            <a:r>
              <a:rPr lang="ko-KR" altLang="en-US"/>
              <a:t>를 지정한 뒤</a:t>
            </a:r>
            <a:r>
              <a:rPr lang="en-US" altLang="ko-KR"/>
              <a:t>, </a:t>
            </a:r>
            <a:r>
              <a:rPr lang="en-US" altLang="ko-KR">
                <a:latin typeface="Times New Roman" panose="02020603050405020304" pitchFamily="18" charset="0"/>
              </a:rPr>
              <a:t>‘</a:t>
            </a:r>
            <a:r>
              <a:rPr lang="ko-KR" altLang="en-US"/>
              <a:t>성별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ko-KR" altLang="en-US"/>
              <a:t> 이라는 속성은 </a:t>
            </a:r>
            <a:r>
              <a:rPr lang="ko-KR" altLang="en-US">
                <a:latin typeface="Times New Roman" panose="02020603050405020304" pitchFamily="18" charset="0"/>
              </a:rPr>
              <a:t>‘</a:t>
            </a:r>
            <a:r>
              <a:rPr lang="en-US" altLang="ko-KR"/>
              <a:t>SEX' </a:t>
            </a:r>
            <a:r>
              <a:rPr lang="ko-KR" altLang="en-US"/>
              <a:t>도메인에 있는 값만을 갖을 수 있다고 지정해 놓으면 사용자들이 실수로 남</a:t>
            </a:r>
            <a:r>
              <a:rPr lang="en-US" altLang="ko-KR"/>
              <a:t>,</a:t>
            </a:r>
            <a:r>
              <a:rPr lang="ko-KR" altLang="en-US"/>
              <a:t>여 이외의 값을 입력하는 것을 </a:t>
            </a:r>
            <a:r>
              <a:rPr lang="en-US" altLang="ko-KR"/>
              <a:t>DBMS</a:t>
            </a:r>
            <a:r>
              <a:rPr lang="ko-KR" altLang="en-US"/>
              <a:t>가 막을 수 있음</a:t>
            </a:r>
          </a:p>
          <a:p>
            <a:pPr lvl="1" eaLnBrk="1" hangingPunct="1"/>
            <a:r>
              <a:rPr lang="ko-KR" altLang="en-US"/>
              <a:t>현실적으로 도메인을 구현하는 것은 어렵기 때문에 대부분의 </a:t>
            </a:r>
            <a:r>
              <a:rPr lang="en-US" altLang="ko-KR"/>
              <a:t>DBMS </a:t>
            </a:r>
            <a:r>
              <a:rPr lang="ko-KR" altLang="en-US"/>
              <a:t>제품에서는 </a:t>
            </a:r>
            <a:r>
              <a:rPr lang="ko-KR" altLang="en-US">
                <a:solidFill>
                  <a:srgbClr val="6600CC"/>
                </a:solidFill>
              </a:rPr>
              <a:t>사용자 정의 데이터타입</a:t>
            </a:r>
            <a:r>
              <a:rPr lang="ko-KR" altLang="en-US"/>
              <a:t>으로 사용 </a:t>
            </a:r>
          </a:p>
          <a:p>
            <a:pPr eaLnBrk="1" hangingPunct="1"/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5A34C4E-7352-44BC-B298-C7EC3EB32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1.2 </a:t>
            </a:r>
            <a:r>
              <a:rPr lang="ko-KR" altLang="en-US"/>
              <a:t>관계형 데이터베이스 용어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928B9C8D-F53E-45FF-B83A-185765949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Char char="ø"/>
            </a:pPr>
            <a:r>
              <a:rPr lang="ko-KR" altLang="en-US"/>
              <a:t>현재는 여러 용어가 혼용되고 있는 상황임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b="0"/>
          </a:p>
        </p:txBody>
      </p:sp>
      <p:graphicFrame>
        <p:nvGraphicFramePr>
          <p:cNvPr id="2050" name="Object 1024">
            <a:extLst>
              <a:ext uri="{FF2B5EF4-FFF2-40B4-BE49-F238E27FC236}">
                <a16:creationId xmlns:a16="http://schemas.microsoft.com/office/drawing/2014/main" id="{E1E092CC-5553-43A9-A8DB-10686D9CA4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362200"/>
          <a:ext cx="7132638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133333" imgH="1743318" progId="Paint.Picture">
                  <p:embed/>
                </p:oleObj>
              </mc:Choice>
              <mc:Fallback>
                <p:oleObj name="Bitmap Image" r:id="rId2" imgW="7133333" imgH="1743318" progId="Paint.Picture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62200"/>
                        <a:ext cx="7132638" cy="174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Text Box 5">
            <a:extLst>
              <a:ext uri="{FF2B5EF4-FFF2-40B4-BE49-F238E27FC236}">
                <a16:creationId xmlns:a16="http://schemas.microsoft.com/office/drawing/2014/main" id="{8BB3BBDA-0D10-4F51-9D19-26B527138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0925" y="4191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표 </a:t>
            </a:r>
            <a:r>
              <a:rPr lang="en-US" altLang="ko-KR" sz="1400" b="1"/>
              <a:t>1.2&gt; </a:t>
            </a:r>
            <a:r>
              <a:rPr lang="ko-KR" altLang="en-US" sz="1400" b="1"/>
              <a:t>용어 대비표</a:t>
            </a:r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3F0F4FF6-8D36-41B9-8E8A-81EE018DE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899025"/>
            <a:ext cx="74707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1800" b="1">
                <a:solidFill>
                  <a:srgbClr val="6600CC"/>
                </a:solidFill>
              </a:rPr>
              <a:t> </a:t>
            </a:r>
            <a:r>
              <a:rPr lang="ko-KR" altLang="en-US" sz="1800" b="1">
                <a:solidFill>
                  <a:srgbClr val="6600CC"/>
                </a:solidFill>
              </a:rPr>
              <a:t>본 강의에서는 앞으로 테이블</a:t>
            </a:r>
            <a:r>
              <a:rPr lang="en-US" altLang="ko-KR" sz="1800" b="1">
                <a:solidFill>
                  <a:srgbClr val="6600CC"/>
                </a:solidFill>
              </a:rPr>
              <a:t>, </a:t>
            </a:r>
            <a:r>
              <a:rPr lang="ko-KR" altLang="en-US" sz="1800" b="1">
                <a:solidFill>
                  <a:srgbClr val="6600CC"/>
                </a:solidFill>
              </a:rPr>
              <a:t>컬럼</a:t>
            </a:r>
            <a:r>
              <a:rPr lang="en-US" altLang="ko-KR" sz="1800" b="1">
                <a:solidFill>
                  <a:srgbClr val="6600CC"/>
                </a:solidFill>
              </a:rPr>
              <a:t>, </a:t>
            </a:r>
            <a:r>
              <a:rPr lang="ko-KR" altLang="en-US" sz="1800" b="1">
                <a:solidFill>
                  <a:srgbClr val="6600CC"/>
                </a:solidFill>
              </a:rPr>
              <a:t>튜플이라는 용어를 사용하기로 함</a:t>
            </a:r>
          </a:p>
          <a:p>
            <a:pPr eaLnBrk="1" hangingPunct="1"/>
            <a:endParaRPr lang="en-US" altLang="ko-KR" sz="1800" b="1">
              <a:solidFill>
                <a:srgbClr val="6600CC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14A04284-6854-4B4A-8029-A8A93B509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09A844D-2D9E-4A1A-B379-A26403635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키의 필요성</a:t>
            </a:r>
          </a:p>
        </p:txBody>
      </p:sp>
      <p:graphicFrame>
        <p:nvGraphicFramePr>
          <p:cNvPr id="120836" name="Group 4">
            <a:extLst>
              <a:ext uri="{FF2B5EF4-FFF2-40B4-BE49-F238E27FC236}">
                <a16:creationId xmlns:a16="http://schemas.microsoft.com/office/drawing/2014/main" id="{445214F8-97BC-4BE7-996B-49B6BD82583F}"/>
              </a:ext>
            </a:extLst>
          </p:cNvPr>
          <p:cNvGraphicFramePr>
            <a:graphicFrameLocks noGrp="1"/>
          </p:cNvGraphicFramePr>
          <p:nvPr/>
        </p:nvGraphicFramePr>
        <p:xfrm>
          <a:off x="1792288" y="3759200"/>
          <a:ext cx="4800600" cy="2032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tel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김철수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국문학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02-121-2121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박선하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국문학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041-213-4311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안미희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컴퓨터공학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031-132-1231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유창식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컴퓨터공학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02-521-4523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임한솔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산업공학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042-532-1461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0880" name="Group 48">
            <a:extLst>
              <a:ext uri="{FF2B5EF4-FFF2-40B4-BE49-F238E27FC236}">
                <a16:creationId xmlns:a16="http://schemas.microsoft.com/office/drawing/2014/main" id="{B77C7262-6DA1-4F80-AF03-22B1D7F03D99}"/>
              </a:ext>
            </a:extLst>
          </p:cNvPr>
          <p:cNvGraphicFramePr>
            <a:graphicFrameLocks noGrp="1"/>
          </p:cNvGraphicFramePr>
          <p:nvPr/>
        </p:nvGraphicFramePr>
        <p:xfrm>
          <a:off x="2478088" y="2463800"/>
          <a:ext cx="4800600" cy="304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박선하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국문학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041-213-4311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894" name="Group 62">
            <a:extLst>
              <a:ext uri="{FF2B5EF4-FFF2-40B4-BE49-F238E27FC236}">
                <a16:creationId xmlns:a16="http://schemas.microsoft.com/office/drawing/2014/main" id="{92720826-C2DA-4AD0-AE41-454479ED445A}"/>
              </a:ext>
            </a:extLst>
          </p:cNvPr>
          <p:cNvGraphicFramePr>
            <a:graphicFrameLocks noGrp="1"/>
          </p:cNvGraphicFramePr>
          <p:nvPr/>
        </p:nvGraphicFramePr>
        <p:xfrm>
          <a:off x="3087688" y="2997200"/>
          <a:ext cx="4800600" cy="3048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5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2003002</a:t>
                      </a:r>
                    </a:p>
                  </a:txBody>
                  <a:tcPr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박선하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영문학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041-213-4311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748" name="Text Box 76">
            <a:extLst>
              <a:ext uri="{FF2B5EF4-FFF2-40B4-BE49-F238E27FC236}">
                <a16:creationId xmlns:a16="http://schemas.microsoft.com/office/drawing/2014/main" id="{A106C22F-2F9C-47B1-9026-A2DA80FE7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454400"/>
            <a:ext cx="8778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STUDENT</a:t>
            </a:r>
          </a:p>
        </p:txBody>
      </p:sp>
      <p:sp>
        <p:nvSpPr>
          <p:cNvPr id="28749" name="Freeform 77">
            <a:extLst>
              <a:ext uri="{FF2B5EF4-FFF2-40B4-BE49-F238E27FC236}">
                <a16:creationId xmlns:a16="http://schemas.microsoft.com/office/drawing/2014/main" id="{9016CA05-5181-47B8-9519-B309C8107829}"/>
              </a:ext>
            </a:extLst>
          </p:cNvPr>
          <p:cNvSpPr>
            <a:spLocks/>
          </p:cNvSpPr>
          <p:nvPr/>
        </p:nvSpPr>
        <p:spPr bwMode="auto">
          <a:xfrm>
            <a:off x="2363788" y="2768600"/>
            <a:ext cx="495300" cy="990600"/>
          </a:xfrm>
          <a:custGeom>
            <a:avLst/>
            <a:gdLst>
              <a:gd name="T0" fmla="*/ 423386283 w 312"/>
              <a:gd name="T1" fmla="*/ 0 h 624"/>
              <a:gd name="T2" fmla="*/ 60483751 w 312"/>
              <a:gd name="T3" fmla="*/ 483870009 h 624"/>
              <a:gd name="T4" fmla="*/ 786288641 w 312"/>
              <a:gd name="T5" fmla="*/ 1572577282 h 624"/>
              <a:gd name="T6" fmla="*/ 0 60000 65536"/>
              <a:gd name="T7" fmla="*/ 0 60000 65536"/>
              <a:gd name="T8" fmla="*/ 0 60000 65536"/>
              <a:gd name="T9" fmla="*/ 0 w 312"/>
              <a:gd name="T10" fmla="*/ 0 h 624"/>
              <a:gd name="T11" fmla="*/ 312 w 312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2" h="624">
                <a:moveTo>
                  <a:pt x="168" y="0"/>
                </a:moveTo>
                <a:cubicBezTo>
                  <a:pt x="84" y="44"/>
                  <a:pt x="0" y="88"/>
                  <a:pt x="24" y="192"/>
                </a:cubicBezTo>
                <a:cubicBezTo>
                  <a:pt x="48" y="296"/>
                  <a:pt x="180" y="460"/>
                  <a:pt x="312" y="6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0" name="Freeform 78">
            <a:extLst>
              <a:ext uri="{FF2B5EF4-FFF2-40B4-BE49-F238E27FC236}">
                <a16:creationId xmlns:a16="http://schemas.microsoft.com/office/drawing/2014/main" id="{6E3372C1-1268-4CA0-AFC4-C96A5A72DBC7}"/>
              </a:ext>
            </a:extLst>
          </p:cNvPr>
          <p:cNvSpPr>
            <a:spLocks/>
          </p:cNvSpPr>
          <p:nvPr/>
        </p:nvSpPr>
        <p:spPr bwMode="auto">
          <a:xfrm>
            <a:off x="3303588" y="3302000"/>
            <a:ext cx="241300" cy="457200"/>
          </a:xfrm>
          <a:custGeom>
            <a:avLst/>
            <a:gdLst>
              <a:gd name="T0" fmla="*/ 262096244 w 152"/>
              <a:gd name="T1" fmla="*/ 0 h 288"/>
              <a:gd name="T2" fmla="*/ 20161248 w 152"/>
              <a:gd name="T3" fmla="*/ 241934997 h 288"/>
              <a:gd name="T4" fmla="*/ 383063695 w 152"/>
              <a:gd name="T5" fmla="*/ 725804891 h 288"/>
              <a:gd name="T6" fmla="*/ 0 60000 65536"/>
              <a:gd name="T7" fmla="*/ 0 60000 65536"/>
              <a:gd name="T8" fmla="*/ 0 60000 65536"/>
              <a:gd name="T9" fmla="*/ 0 w 152"/>
              <a:gd name="T10" fmla="*/ 0 h 288"/>
              <a:gd name="T11" fmla="*/ 152 w 15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" h="288">
                <a:moveTo>
                  <a:pt x="104" y="0"/>
                </a:moveTo>
                <a:cubicBezTo>
                  <a:pt x="52" y="24"/>
                  <a:pt x="0" y="48"/>
                  <a:pt x="8" y="96"/>
                </a:cubicBezTo>
                <a:cubicBezTo>
                  <a:pt x="16" y="144"/>
                  <a:pt x="84" y="216"/>
                  <a:pt x="152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51" name="Text Box 79">
            <a:extLst>
              <a:ext uri="{FF2B5EF4-FFF2-40B4-BE49-F238E27FC236}">
                <a16:creationId xmlns:a16="http://schemas.microsoft.com/office/drawing/2014/main" id="{639B7DB6-1D76-44EF-A518-85761E852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388" y="240188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imes New Roman" panose="02020603050405020304" pitchFamily="18" charset="0"/>
                <a:ea typeface="굴림" panose="020B0600000101010101" pitchFamily="34" charset="-127"/>
                <a:sym typeface="Wingdings 2" panose="05020102010507070707" pitchFamily="18" charset="2"/>
              </a:rPr>
              <a:t></a:t>
            </a:r>
            <a:endParaRPr lang="en-US" altLang="ko-KR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8752" name="Text Box 80">
            <a:extLst>
              <a:ext uri="{FF2B5EF4-FFF2-40B4-BE49-F238E27FC236}">
                <a16:creationId xmlns:a16="http://schemas.microsoft.com/office/drawing/2014/main" id="{90E41D87-8770-4650-B67F-7E723C74A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275" y="292100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>
                <a:latin typeface="Times New Roman" panose="02020603050405020304" pitchFamily="18" charset="0"/>
                <a:ea typeface="굴림" panose="020B0600000101010101" pitchFamily="34" charset="-127"/>
                <a:sym typeface="Wingdings 2" panose="05020102010507070707" pitchFamily="18" charset="2"/>
              </a:rPr>
              <a:t></a:t>
            </a:r>
          </a:p>
        </p:txBody>
      </p:sp>
      <p:sp>
        <p:nvSpPr>
          <p:cNvPr id="28753" name="Text Box 81">
            <a:extLst>
              <a:ext uri="{FF2B5EF4-FFF2-40B4-BE49-F238E27FC236}">
                <a16:creationId xmlns:a16="http://schemas.microsoft.com/office/drawing/2014/main" id="{55BF165C-54C7-4CF0-BD7E-4C7436A0A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0888" y="6019800"/>
            <a:ext cx="26527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00"/>
                </a:solidFill>
              </a:rPr>
              <a:t>&lt;</a:t>
            </a:r>
            <a:r>
              <a:rPr lang="ko-KR" altLang="en-US" sz="1400" b="1">
                <a:solidFill>
                  <a:srgbClr val="000000"/>
                </a:solidFill>
              </a:rPr>
              <a:t>그림 </a:t>
            </a:r>
            <a:r>
              <a:rPr lang="en-US" altLang="ko-KR" sz="1400" b="1">
                <a:solidFill>
                  <a:srgbClr val="000000"/>
                </a:solidFill>
              </a:rPr>
              <a:t>1.8&gt; </a:t>
            </a:r>
            <a:r>
              <a:rPr lang="ko-KR" altLang="en-US" sz="1400" b="1">
                <a:solidFill>
                  <a:srgbClr val="000000"/>
                </a:solidFill>
              </a:rPr>
              <a:t>중복된 튜플의 삽입</a:t>
            </a:r>
            <a:endParaRPr lang="ko-KR" altLang="en-US" sz="14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663FA332-22AF-48DD-9490-2BD8665E0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690B65B-04B3-4C2E-9F2D-665CE0C5D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키의 필요성</a:t>
            </a:r>
          </a:p>
          <a:p>
            <a:pPr lvl="1" eaLnBrk="1" hangingPunct="1"/>
            <a:r>
              <a:rPr lang="ko-KR" altLang="en-US">
                <a:sym typeface="Wingdings 2" panose="05020102010507070707" pitchFamily="18" charset="2"/>
              </a:rPr>
              <a:t></a:t>
            </a:r>
            <a:r>
              <a:rPr lang="ko-KR" altLang="en-US"/>
              <a:t>번 튜플이 정상적으로 삽입된다면 동일 튜플이 이미 있으므로 중복</a:t>
            </a:r>
          </a:p>
          <a:p>
            <a:pPr lvl="2" eaLnBrk="1" hangingPunct="1"/>
            <a:r>
              <a:rPr lang="ko-KR" altLang="en-US"/>
              <a:t>전체 학생수는 몇명인가</a:t>
            </a:r>
            <a:r>
              <a:rPr lang="en-US" altLang="ko-KR"/>
              <a:t>?</a:t>
            </a:r>
          </a:p>
          <a:p>
            <a:pPr lvl="1" eaLnBrk="1" hangingPunct="1"/>
            <a:r>
              <a:rPr lang="en-US" altLang="ko-KR">
                <a:sym typeface="Wingdings 2" panose="05020102010507070707" pitchFamily="18" charset="2"/>
              </a:rPr>
              <a:t></a:t>
            </a:r>
            <a:r>
              <a:rPr lang="ko-KR" altLang="en-US"/>
              <a:t>번 튜플이 정상적으로 삽입된다면 물리적인 중복은 아니나 의미적으로 중복</a:t>
            </a:r>
          </a:p>
          <a:p>
            <a:pPr lvl="2" eaLnBrk="1" hangingPunct="1"/>
            <a:r>
              <a:rPr lang="ko-KR" altLang="en-US">
                <a:latin typeface="Times New Roman" panose="02020603050405020304" pitchFamily="18" charset="0"/>
              </a:rPr>
              <a:t>‘</a:t>
            </a:r>
            <a:r>
              <a:rPr lang="ko-KR" altLang="en-US"/>
              <a:t>박선하</a:t>
            </a:r>
            <a:r>
              <a:rPr lang="ko-KR" altLang="en-US">
                <a:latin typeface="Times New Roman" panose="02020603050405020304" pitchFamily="18" charset="0"/>
              </a:rPr>
              <a:t>’</a:t>
            </a:r>
            <a:r>
              <a:rPr lang="ko-KR" altLang="en-US"/>
              <a:t>의 전공은 무엇인가</a:t>
            </a:r>
          </a:p>
          <a:p>
            <a:pPr lvl="1" eaLnBrk="1" hangingPunct="1"/>
            <a:r>
              <a:rPr lang="ko-KR" altLang="en-US"/>
              <a:t>튜플의 중복 여부를 알아내기 위해서는 삽입하고자 하는 튜플과 이미 존재하는 모든 튜플을 일일이 비교해야 하는데 이는 비현실적임</a:t>
            </a:r>
            <a:endParaRPr lang="en-US" altLang="ko-KR"/>
          </a:p>
          <a:p>
            <a:pPr lvl="1" eaLnBrk="1" hangingPunct="1"/>
            <a:r>
              <a:rPr lang="ko-KR" altLang="en-US">
                <a:solidFill>
                  <a:srgbClr val="6600CC"/>
                </a:solidFill>
              </a:rPr>
              <a:t>중복 여부를 효과적으로 알 수 있도록 하는 수단</a:t>
            </a:r>
            <a:r>
              <a:rPr lang="ko-KR" altLang="en-US"/>
              <a:t>이 </a:t>
            </a:r>
            <a:r>
              <a:rPr lang="ko-KR" altLang="en-US">
                <a:latin typeface="Times New Roman" panose="02020603050405020304" pitchFamily="18" charset="0"/>
              </a:rPr>
              <a:t>‘</a:t>
            </a:r>
            <a:r>
              <a:rPr lang="ko-KR" altLang="en-US"/>
              <a:t>키</a:t>
            </a:r>
            <a:r>
              <a:rPr lang="en-US" altLang="ko-KR"/>
              <a:t>(key)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 </a:t>
            </a:r>
            <a:r>
              <a:rPr lang="ko-KR" altLang="en-US"/>
              <a:t>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A56E6F1A-107A-4BD8-943F-48CC2E8E4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D33F0D8-0D0A-4DB0-8AAE-100E850B6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후보키</a:t>
            </a:r>
            <a:r>
              <a:rPr lang="en-US" altLang="ko-KR"/>
              <a:t>(candidate key)</a:t>
            </a:r>
            <a:endParaRPr lang="en-US" altLang="ko-KR">
              <a:solidFill>
                <a:srgbClr val="000099"/>
              </a:solidFill>
            </a:endParaRPr>
          </a:p>
          <a:p>
            <a:pPr lvl="1" eaLnBrk="1" hangingPunct="1"/>
            <a:r>
              <a:rPr lang="ko-KR" altLang="en-US"/>
              <a:t>후보키</a:t>
            </a:r>
            <a:r>
              <a:rPr lang="en-US" altLang="ko-KR"/>
              <a:t>(candidate key)</a:t>
            </a:r>
            <a:r>
              <a:rPr lang="ko-KR" altLang="en-US"/>
              <a:t>란 테이블에서 각 튜플을 구별하는데 기준이 되는 하나 혹은 그 이상의 컬럼들의 집합임 </a:t>
            </a:r>
            <a:r>
              <a:rPr lang="en-US" altLang="ko-KR"/>
              <a:t>(</a:t>
            </a:r>
            <a:r>
              <a:rPr lang="ko-KR" altLang="en-US"/>
              <a:t>후보키는 테이블에 있는 각 튜플을 고유하게 식별할 수 있어야 함</a:t>
            </a:r>
            <a:r>
              <a:rPr lang="en-US" altLang="ko-KR"/>
              <a:t>)</a:t>
            </a:r>
          </a:p>
          <a:p>
            <a:pPr lvl="1" eaLnBrk="1" hangingPunct="1"/>
            <a:r>
              <a:rPr lang="en-US" altLang="ko-KR"/>
              <a:t>&lt;</a:t>
            </a:r>
            <a:r>
              <a:rPr lang="ko-KR" altLang="en-US"/>
              <a:t>그림 </a:t>
            </a:r>
            <a:r>
              <a:rPr lang="en-US" altLang="ko-KR"/>
              <a:t>1.8&gt;</a:t>
            </a:r>
            <a:r>
              <a:rPr lang="ko-KR" altLang="en-US"/>
              <a:t>의 </a:t>
            </a:r>
            <a:r>
              <a:rPr lang="en-US" altLang="ko-KR"/>
              <a:t>STUDENT </a:t>
            </a:r>
            <a:r>
              <a:rPr lang="ko-KR" altLang="en-US"/>
              <a:t>테이블의 경우 학번</a:t>
            </a:r>
            <a:r>
              <a:rPr lang="en-US" altLang="ko-KR"/>
              <a:t>(sid)</a:t>
            </a:r>
            <a:r>
              <a:rPr lang="ko-KR" altLang="en-US"/>
              <a:t>이 후보키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r>
              <a:rPr lang="ko-KR" altLang="en-US"/>
              <a:t>튜플의 중복 여부 확인시 기존 튜플의 모든 컬럼값을 비교하는 대신 후보키 컬럼의 값만 비교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B6772F44-2958-4539-A646-0CB0EE147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3D1AABA-2C0F-4F4B-8A26-938A61BEF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후보키</a:t>
            </a:r>
            <a:r>
              <a:rPr lang="en-US" altLang="ko-KR"/>
              <a:t>(candidate key)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ko-KR" altLang="en-US">
                <a:solidFill>
                  <a:srgbClr val="000099"/>
                </a:solidFill>
              </a:rPr>
              <a:t>후보키</a:t>
            </a:r>
            <a:r>
              <a:rPr lang="en-US" altLang="ko-KR">
                <a:solidFill>
                  <a:srgbClr val="000099"/>
                </a:solidFill>
              </a:rPr>
              <a:t>, </a:t>
            </a:r>
            <a:r>
              <a:rPr lang="ko-KR" altLang="en-US">
                <a:solidFill>
                  <a:srgbClr val="000099"/>
                </a:solidFill>
              </a:rPr>
              <a:t>기본키</a:t>
            </a:r>
            <a:r>
              <a:rPr lang="en-US" altLang="ko-KR">
                <a:solidFill>
                  <a:srgbClr val="000099"/>
                </a:solidFill>
              </a:rPr>
              <a:t>, </a:t>
            </a:r>
            <a:r>
              <a:rPr lang="ko-KR" altLang="en-US">
                <a:solidFill>
                  <a:srgbClr val="000099"/>
                </a:solidFill>
              </a:rPr>
              <a:t>대체키</a:t>
            </a:r>
          </a:p>
          <a:p>
            <a:pPr lvl="1" eaLnBrk="1" hangingPunct="1"/>
            <a:endParaRPr lang="en-US" altLang="ko-KR"/>
          </a:p>
        </p:txBody>
      </p:sp>
      <p:graphicFrame>
        <p:nvGraphicFramePr>
          <p:cNvPr id="123908" name="Group 4">
            <a:extLst>
              <a:ext uri="{FF2B5EF4-FFF2-40B4-BE49-F238E27FC236}">
                <a16:creationId xmlns:a16="http://schemas.microsoft.com/office/drawing/2014/main" id="{D72B3F56-E7B1-43A4-88B8-39BF8EC93DA6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2971800"/>
          <a:ext cx="4800600" cy="2032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김철수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국문학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831212-1213112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박선하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국문학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830823-2130121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안미희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컴퓨터공학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820224-2013112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유창식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컴퓨터공학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810509-1934142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임한솔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산업공학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831227-1324123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92" name="Text Box 48">
            <a:extLst>
              <a:ext uri="{FF2B5EF4-FFF2-40B4-BE49-F238E27FC236}">
                <a16:creationId xmlns:a16="http://schemas.microsoft.com/office/drawing/2014/main" id="{36DDC005-D1EE-46B4-889C-2E2BC09B6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913" y="2667000"/>
            <a:ext cx="8778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STUDENT</a:t>
            </a:r>
          </a:p>
        </p:txBody>
      </p:sp>
      <p:sp>
        <p:nvSpPr>
          <p:cNvPr id="31793" name="Text Box 49">
            <a:extLst>
              <a:ext uri="{FF2B5EF4-FFF2-40B4-BE49-F238E27FC236}">
                <a16:creationId xmlns:a16="http://schemas.microsoft.com/office/drawing/2014/main" id="{170FC8A6-0BD0-47D0-B2E2-35AB1A00A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0" y="5638800"/>
            <a:ext cx="641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기본키</a:t>
            </a:r>
            <a:endParaRPr lang="ko-KR" altLang="en-US" sz="1200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1794" name="Text Box 50">
            <a:extLst>
              <a:ext uri="{FF2B5EF4-FFF2-40B4-BE49-F238E27FC236}">
                <a16:creationId xmlns:a16="http://schemas.microsoft.com/office/drawing/2014/main" id="{8086BBC3-AA3D-4F26-A54E-19C26774D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0850" y="5638800"/>
            <a:ext cx="641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대체키</a:t>
            </a:r>
            <a:endParaRPr lang="ko-KR" altLang="en-US" sz="1200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1795" name="Text Box 51">
            <a:extLst>
              <a:ext uri="{FF2B5EF4-FFF2-40B4-BE49-F238E27FC236}">
                <a16:creationId xmlns:a16="http://schemas.microsoft.com/office/drawing/2014/main" id="{CEEAED02-466D-49E3-942A-15798FDCF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650" y="5638800"/>
            <a:ext cx="641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후보키</a:t>
            </a:r>
            <a:endParaRPr lang="ko-KR" altLang="en-US" sz="1200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1796" name="Line 52">
            <a:extLst>
              <a:ext uri="{FF2B5EF4-FFF2-40B4-BE49-F238E27FC236}">
                <a16:creationId xmlns:a16="http://schemas.microsoft.com/office/drawing/2014/main" id="{4A155A69-74FD-4610-BA98-8F5FFD2BA1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5029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7" name="Line 53">
            <a:extLst>
              <a:ext uri="{FF2B5EF4-FFF2-40B4-BE49-F238E27FC236}">
                <a16:creationId xmlns:a16="http://schemas.microsoft.com/office/drawing/2014/main" id="{E66DFA69-92E4-4759-B21F-5E0BAA0171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029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8" name="Line 54">
            <a:extLst>
              <a:ext uri="{FF2B5EF4-FFF2-40B4-BE49-F238E27FC236}">
                <a16:creationId xmlns:a16="http://schemas.microsoft.com/office/drawing/2014/main" id="{9539F564-0B60-44B2-9A80-69203CD79C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9400" y="5105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9" name="Line 55">
            <a:extLst>
              <a:ext uri="{FF2B5EF4-FFF2-40B4-BE49-F238E27FC236}">
                <a16:creationId xmlns:a16="http://schemas.microsoft.com/office/drawing/2014/main" id="{751B4E89-8B88-4397-AB5A-C60728E98E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5105400"/>
            <a:ext cx="1447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0" name="Text Box 56">
            <a:extLst>
              <a:ext uri="{FF2B5EF4-FFF2-40B4-BE49-F238E27FC236}">
                <a16:creationId xmlns:a16="http://schemas.microsoft.com/office/drawing/2014/main" id="{E79E97F1-CFBF-4DD4-92E5-AD97FBE15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6019800"/>
            <a:ext cx="29575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1.9&gt; </a:t>
            </a:r>
            <a:r>
              <a:rPr lang="ko-KR" altLang="en-US" sz="1400" b="1"/>
              <a:t>후보키</a:t>
            </a:r>
            <a:r>
              <a:rPr lang="en-US" altLang="ko-KR" sz="1400" b="1"/>
              <a:t>, </a:t>
            </a:r>
            <a:r>
              <a:rPr lang="ko-KR" altLang="en-US" sz="1400" b="1"/>
              <a:t>기본키</a:t>
            </a:r>
            <a:r>
              <a:rPr lang="en-US" altLang="ko-KR" sz="1400" b="1"/>
              <a:t>, </a:t>
            </a:r>
            <a:r>
              <a:rPr lang="ko-KR" altLang="en-US" sz="1400" b="1"/>
              <a:t>대체키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03FAA41-77D9-478D-9458-02452BABC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FAB1A21-4BBC-4A95-8D13-D10224B83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후보키</a:t>
            </a:r>
            <a:r>
              <a:rPr lang="en-US" altLang="ko-KR"/>
              <a:t>(candidate key)</a:t>
            </a:r>
          </a:p>
          <a:p>
            <a:pPr lvl="2" eaLnBrk="1" hangingPunct="1"/>
            <a:r>
              <a:rPr lang="ko-KR" altLang="en-US"/>
              <a:t>기본키</a:t>
            </a:r>
            <a:r>
              <a:rPr lang="en-US" altLang="ko-KR"/>
              <a:t>(primary key)</a:t>
            </a:r>
          </a:p>
          <a:p>
            <a:pPr lvl="3" eaLnBrk="1" hangingPunct="1"/>
            <a:r>
              <a:rPr lang="ko-KR" altLang="en-US"/>
              <a:t>후보키 중 튜플을 식별하는데 기준으로 사용할 키</a:t>
            </a:r>
          </a:p>
          <a:p>
            <a:pPr lvl="2" eaLnBrk="1" hangingPunct="1"/>
            <a:r>
              <a:rPr lang="ko-KR" altLang="en-US"/>
              <a:t>대체키</a:t>
            </a:r>
            <a:r>
              <a:rPr lang="en-US" altLang="ko-KR"/>
              <a:t>(alternate key)</a:t>
            </a:r>
          </a:p>
          <a:p>
            <a:pPr lvl="3" eaLnBrk="1" hangingPunct="1"/>
            <a:r>
              <a:rPr lang="ko-KR" altLang="en-US"/>
              <a:t>후보키중 기본키로 선택되지 않은 나머지 키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8ADD21D3-1995-49D5-BB4F-999FE4BFB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962400"/>
            <a:ext cx="73914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ko-KR" altLang="en-US" sz="1800"/>
              <a:t>기본키는 일반적으로 정보를 검색하는 기준이 됨</a:t>
            </a:r>
            <a:endParaRPr lang="en-US" altLang="ko-KR" sz="180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ko-KR" altLang="en-US" sz="1800"/>
              <a:t>기본키는 중복된 튜플이 입력 되는 것을 방지함</a:t>
            </a:r>
            <a:endParaRPr lang="en-US" altLang="ko-KR" sz="180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ko-KR" altLang="en-US" sz="1800"/>
              <a:t>모든 테이블에는 적어도 하나의 기본키</a:t>
            </a:r>
            <a:r>
              <a:rPr lang="en-US" altLang="ko-KR" sz="1800"/>
              <a:t>(</a:t>
            </a:r>
            <a:r>
              <a:rPr lang="ko-KR" altLang="en-US" sz="1800"/>
              <a:t>후보키</a:t>
            </a:r>
            <a:r>
              <a:rPr lang="en-US" altLang="ko-KR" sz="1800"/>
              <a:t>)</a:t>
            </a:r>
            <a:r>
              <a:rPr lang="ko-KR" altLang="en-US" sz="1800"/>
              <a:t>가 존재함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C0E5A790-3967-44E5-8946-9B25E6127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FB0A053-9CEF-4814-8F24-1F7392F63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후보키</a:t>
            </a:r>
            <a:r>
              <a:rPr lang="en-US" altLang="ko-KR"/>
              <a:t>(candidate key)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ko-KR" altLang="en-US">
                <a:solidFill>
                  <a:srgbClr val="000099"/>
                </a:solidFill>
              </a:rPr>
              <a:t>복합키</a:t>
            </a:r>
            <a:r>
              <a:rPr lang="en-US" altLang="ko-KR">
                <a:solidFill>
                  <a:srgbClr val="000099"/>
                </a:solidFill>
              </a:rPr>
              <a:t>(composite key)</a:t>
            </a:r>
          </a:p>
          <a:p>
            <a:pPr lvl="2" eaLnBrk="1" hangingPunct="1"/>
            <a:r>
              <a:rPr lang="ko-KR" altLang="en-US"/>
              <a:t>하나의 컬럼이 후보키의 역할을 하지 못하고 두개 이상의 컬럼이 합쳐져야 후보키의 역할을 하는 경우</a:t>
            </a:r>
          </a:p>
        </p:txBody>
      </p:sp>
      <p:graphicFrame>
        <p:nvGraphicFramePr>
          <p:cNvPr id="125956" name="Group 4">
            <a:extLst>
              <a:ext uri="{FF2B5EF4-FFF2-40B4-BE49-F238E27FC236}">
                <a16:creationId xmlns:a16="http://schemas.microsoft.com/office/drawing/2014/main" id="{3CCDF222-F9BD-4136-B225-A4514A3132B8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3535363"/>
          <a:ext cx="4038600" cy="2032000"/>
        </p:xfrm>
        <a:graphic>
          <a:graphicData uri="http://schemas.openxmlformats.org/drawingml/2006/table">
            <a:tbl>
              <a:tblPr/>
              <a:tblGrid>
                <a:gridCol w="117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8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club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club_president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영어회화반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강우혁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낚시회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김민우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영어회화반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강우혁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한문강독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박문길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2003004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해커스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안홍섭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826" name="Text Box 34">
            <a:extLst>
              <a:ext uri="{FF2B5EF4-FFF2-40B4-BE49-F238E27FC236}">
                <a16:creationId xmlns:a16="http://schemas.microsoft.com/office/drawing/2014/main" id="{5696D184-FAB8-4E45-BF43-8DB3B6970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913" y="3230563"/>
            <a:ext cx="13573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STUDENT_CLUB</a:t>
            </a:r>
          </a:p>
        </p:txBody>
      </p:sp>
      <p:sp>
        <p:nvSpPr>
          <p:cNvPr id="33827" name="AutoShape 35">
            <a:extLst>
              <a:ext uri="{FF2B5EF4-FFF2-40B4-BE49-F238E27FC236}">
                <a16:creationId xmlns:a16="http://schemas.microsoft.com/office/drawing/2014/main" id="{92B7B3C5-7F0B-4489-8FA7-C8F6136F34B6}"/>
              </a:ext>
            </a:extLst>
          </p:cNvPr>
          <p:cNvSpPr>
            <a:spLocks/>
          </p:cNvSpPr>
          <p:nvPr/>
        </p:nvSpPr>
        <p:spPr bwMode="auto">
          <a:xfrm rot="-5400000">
            <a:off x="3314700" y="4564063"/>
            <a:ext cx="228600" cy="2438400"/>
          </a:xfrm>
          <a:prstGeom prst="leftBrace">
            <a:avLst>
              <a:gd name="adj1" fmla="val 8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3828" name="Text Box 36">
            <a:extLst>
              <a:ext uri="{FF2B5EF4-FFF2-40B4-BE49-F238E27FC236}">
                <a16:creationId xmlns:a16="http://schemas.microsoft.com/office/drawing/2014/main" id="{8BE8E386-517D-43BB-AAEE-C0EAA42BC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897563"/>
            <a:ext cx="641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기본키</a:t>
            </a:r>
            <a:endParaRPr lang="ko-KR" altLang="en-US" sz="1200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33829" name="Rectangle 37">
            <a:extLst>
              <a:ext uri="{FF2B5EF4-FFF2-40B4-BE49-F238E27FC236}">
                <a16:creationId xmlns:a16="http://schemas.microsoft.com/office/drawing/2014/main" id="{E2D7D7FE-C6DE-44EF-BD24-95694B68A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999163"/>
            <a:ext cx="2171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1.10&gt; </a:t>
            </a:r>
            <a:r>
              <a:rPr lang="ko-KR" altLang="en-US" sz="1400" b="1"/>
              <a:t>복합키의 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A611BFD3-80DF-4477-9289-8B71F2407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1C149C2-90EB-4AA0-8F43-0121E8E9C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외래키</a:t>
            </a:r>
            <a:r>
              <a:rPr lang="en-US" altLang="ko-KR"/>
              <a:t>(Foreign key)</a:t>
            </a:r>
          </a:p>
          <a:p>
            <a:pPr lvl="1" eaLnBrk="1" hangingPunct="1"/>
            <a:r>
              <a:rPr lang="ko-KR" altLang="en-US"/>
              <a:t>상호 관련이 있는 테이블들 사이에서 데이터의 일관성을 보장해 주는 수단이 외래키 이다</a:t>
            </a:r>
            <a:r>
              <a:rPr lang="en-US" altLang="ko-KR"/>
              <a:t>.</a:t>
            </a:r>
          </a:p>
          <a:p>
            <a:pPr lvl="1" eaLnBrk="1" hangingPunct="1"/>
            <a:r>
              <a:rPr lang="ko-KR" altLang="en-US"/>
              <a:t>다음 슬라이드에서 사원 테이블의 부서번호</a:t>
            </a:r>
            <a:r>
              <a:rPr lang="en-US" altLang="ko-KR"/>
              <a:t>(deptid)</a:t>
            </a:r>
            <a:r>
              <a:rPr lang="ko-KR" altLang="en-US"/>
              <a:t>는 부서정보 테이블의 부서번호</a:t>
            </a:r>
            <a:r>
              <a:rPr lang="en-US" altLang="ko-KR"/>
              <a:t>(deptid)</a:t>
            </a:r>
            <a:r>
              <a:rPr lang="ko-KR" altLang="en-US"/>
              <a:t>를 참조하고 있음</a:t>
            </a:r>
            <a:endParaRPr lang="en-US" altLang="ko-KR"/>
          </a:p>
          <a:p>
            <a:pPr lvl="2" eaLnBrk="1" hangingPunct="1"/>
            <a:r>
              <a:rPr lang="ko-KR" altLang="en-US"/>
              <a:t>부서 테입블의 첫번째 튜플이 삭제된다면</a:t>
            </a:r>
            <a:r>
              <a:rPr lang="en-US" altLang="ko-KR"/>
              <a:t>?</a:t>
            </a:r>
          </a:p>
          <a:p>
            <a:pPr lvl="2" eaLnBrk="1" hangingPunct="1"/>
            <a:r>
              <a:rPr lang="ko-KR" altLang="en-US"/>
              <a:t>부서테이블의 </a:t>
            </a:r>
            <a:r>
              <a:rPr lang="en-US" altLang="ko-KR"/>
              <a:t>100</a:t>
            </a:r>
            <a:r>
              <a:rPr lang="ko-KR" altLang="en-US"/>
              <a:t>번 부서 번호가 </a:t>
            </a:r>
            <a:r>
              <a:rPr lang="en-US" altLang="ko-KR"/>
              <a:t>110 </a:t>
            </a:r>
            <a:r>
              <a:rPr lang="ko-KR" altLang="en-US"/>
              <a:t>으로 변경된다면</a:t>
            </a:r>
            <a:r>
              <a:rPr lang="en-US" altLang="ko-KR"/>
              <a:t>?</a:t>
            </a:r>
          </a:p>
          <a:p>
            <a:pPr lvl="2" eaLnBrk="1" hangingPunct="1"/>
            <a:r>
              <a:rPr lang="ko-KR" altLang="en-US"/>
              <a:t>사원 테이블에 부서 번호 </a:t>
            </a:r>
            <a:r>
              <a:rPr lang="en-US" altLang="ko-KR"/>
              <a:t>500</a:t>
            </a:r>
            <a:r>
              <a:rPr lang="ko-KR" altLang="en-US"/>
              <a:t>인 사원이 삽입된다면</a:t>
            </a:r>
            <a:r>
              <a:rPr lang="en-US" altLang="ko-KR"/>
              <a:t>?</a:t>
            </a:r>
          </a:p>
          <a:p>
            <a:pPr lvl="2" eaLnBrk="1" hangingPunct="1"/>
            <a:endParaRPr lang="en-US" altLang="ko-KR"/>
          </a:p>
        </p:txBody>
      </p:sp>
      <p:sp>
        <p:nvSpPr>
          <p:cNvPr id="34820" name="Text Box 90">
            <a:extLst>
              <a:ext uri="{FF2B5EF4-FFF2-40B4-BE49-F238E27FC236}">
                <a16:creationId xmlns:a16="http://schemas.microsoft.com/office/drawing/2014/main" id="{1CD02219-EE2A-479C-BBDF-F7429A7B8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550" y="4540250"/>
            <a:ext cx="5718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FF0000"/>
                </a:solidFill>
              </a:rPr>
              <a:t>사원테이블과 부서 테이블에 있는 데이터 사이에 불일치 발생</a:t>
            </a:r>
            <a:r>
              <a:rPr lang="en-US" altLang="ko-KR" sz="1600" b="1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34821" name="AutoShape 91">
            <a:extLst>
              <a:ext uri="{FF2B5EF4-FFF2-40B4-BE49-F238E27FC236}">
                <a16:creationId xmlns:a16="http://schemas.microsoft.com/office/drawing/2014/main" id="{68B9B2A1-E9F7-407E-8B35-561709ED1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59105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7356ADE8-2023-4923-9C00-E8AF2BC2F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graphicFrame>
        <p:nvGraphicFramePr>
          <p:cNvPr id="128092" name="Group 92">
            <a:extLst>
              <a:ext uri="{FF2B5EF4-FFF2-40B4-BE49-F238E27FC236}">
                <a16:creationId xmlns:a16="http://schemas.microsoft.com/office/drawing/2014/main" id="{AC800EA6-17F0-4B41-ABEA-45F4A8931E95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722438"/>
          <a:ext cx="5562600" cy="2032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empid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deptid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hire_date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job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manager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salary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홍성길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2001.2.1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특수영업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곽희준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1999.1.1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김동준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2000.9.1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품질관리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성재규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1997.2.1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급여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박성범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2000.2.1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수입자재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901" name="Text Box 62">
            <a:extLst>
              <a:ext uri="{FF2B5EF4-FFF2-40B4-BE49-F238E27FC236}">
                <a16:creationId xmlns:a16="http://schemas.microsoft.com/office/drawing/2014/main" id="{7FB2E019-CE66-42EB-9228-2E76C417F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338" y="1371600"/>
            <a:ext cx="5000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EMP</a:t>
            </a:r>
          </a:p>
        </p:txBody>
      </p:sp>
      <p:graphicFrame>
        <p:nvGraphicFramePr>
          <p:cNvPr id="128091" name="Group 91">
            <a:extLst>
              <a:ext uri="{FF2B5EF4-FFF2-40B4-BE49-F238E27FC236}">
                <a16:creationId xmlns:a16="http://schemas.microsoft.com/office/drawing/2014/main" id="{93D18536-1660-48D9-B81F-36A1FF6DCF42}"/>
              </a:ext>
            </a:extLst>
          </p:cNvPr>
          <p:cNvGraphicFramePr>
            <a:graphicFrameLocks noGrp="1"/>
          </p:cNvGraphicFramePr>
          <p:nvPr/>
        </p:nvGraphicFramePr>
        <p:xfrm>
          <a:off x="1719263" y="4160838"/>
          <a:ext cx="2286000" cy="169386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budget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관리부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구매부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220k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400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생산부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500k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928" name="Text Box 89">
            <a:extLst>
              <a:ext uri="{FF2B5EF4-FFF2-40B4-BE49-F238E27FC236}">
                <a16:creationId xmlns:a16="http://schemas.microsoft.com/office/drawing/2014/main" id="{467FAD22-69A4-4F56-8B93-77D71F191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810000"/>
            <a:ext cx="574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DEPT</a:t>
            </a:r>
          </a:p>
        </p:txBody>
      </p:sp>
      <p:sp>
        <p:nvSpPr>
          <p:cNvPr id="35929" name="Text Box 90">
            <a:extLst>
              <a:ext uri="{FF2B5EF4-FFF2-40B4-BE49-F238E27FC236}">
                <a16:creationId xmlns:a16="http://schemas.microsoft.com/office/drawing/2014/main" id="{A661842B-8EC4-4A9F-A16B-37059D74E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6019800"/>
            <a:ext cx="31035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1.13&gt; </a:t>
            </a:r>
            <a:r>
              <a:rPr lang="ko-KR" altLang="en-US" sz="1400" b="1"/>
              <a:t>사원과 부서정보 테이블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52F8039-8AA5-48ED-B752-8BA24647A7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6A59AD4-1901-452E-AA8A-886061F3C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외래키</a:t>
            </a:r>
            <a:r>
              <a:rPr lang="en-US" altLang="ko-KR"/>
              <a:t>(Foreign key)</a:t>
            </a:r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lvl="1" eaLnBrk="1" hangingPunct="1"/>
            <a:r>
              <a:rPr lang="ko-KR" altLang="en-US"/>
              <a:t>두 테이블간에 외래키에 의한 참조관계에 있다면 두테이블간 데이터 불일치가 발생하는 상황이 되면 </a:t>
            </a:r>
            <a:r>
              <a:rPr lang="en-US" altLang="ko-KR"/>
              <a:t>DBMS</a:t>
            </a:r>
            <a:r>
              <a:rPr lang="ko-KR" altLang="en-US"/>
              <a:t>는 다음과 같은 조치를 취할 수 있음</a:t>
            </a:r>
          </a:p>
          <a:p>
            <a:pPr lvl="2" eaLnBrk="1" hangingPunct="1"/>
            <a:r>
              <a:rPr lang="ko-KR" altLang="en-US"/>
              <a:t>제한</a:t>
            </a:r>
            <a:r>
              <a:rPr lang="en-US" altLang="ko-KR"/>
              <a:t>(restrict), </a:t>
            </a:r>
            <a:r>
              <a:rPr lang="ko-KR" altLang="en-US"/>
              <a:t>연쇄</a:t>
            </a:r>
            <a:r>
              <a:rPr lang="en-US" altLang="ko-KR"/>
              <a:t>(cascade), </a:t>
            </a:r>
            <a:r>
              <a:rPr lang="ko-KR" altLang="en-US"/>
              <a:t>널값으로 대체</a:t>
            </a:r>
            <a:r>
              <a:rPr lang="en-US" altLang="ko-KR"/>
              <a:t>(nullify)</a:t>
            </a:r>
          </a:p>
        </p:txBody>
      </p:sp>
      <p:graphicFrame>
        <p:nvGraphicFramePr>
          <p:cNvPr id="129058" name="Group 34">
            <a:extLst>
              <a:ext uri="{FF2B5EF4-FFF2-40B4-BE49-F238E27FC236}">
                <a16:creationId xmlns:a16="http://schemas.microsoft.com/office/drawing/2014/main" id="{2D9510FA-4BFB-464B-A5E5-FDFEA0B6D3C9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827338"/>
          <a:ext cx="4114800" cy="56356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empid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(PK)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deptid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(FK)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hire_date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굴림" pitchFamily="50" charset="-127"/>
                        </a:rPr>
                        <a:t>…</a:t>
                      </a:r>
                      <a:endParaRPr kumimoji="1" lang="en-US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882" name="Text Box 18">
            <a:extLst>
              <a:ext uri="{FF2B5EF4-FFF2-40B4-BE49-F238E27FC236}">
                <a16:creationId xmlns:a16="http://schemas.microsoft.com/office/drawing/2014/main" id="{B6890940-26C4-48C4-9071-B7002FB0F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338" y="2476500"/>
            <a:ext cx="5000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EMP</a:t>
            </a:r>
          </a:p>
        </p:txBody>
      </p:sp>
      <p:graphicFrame>
        <p:nvGraphicFramePr>
          <p:cNvPr id="129057" name="Group 33">
            <a:extLst>
              <a:ext uri="{FF2B5EF4-FFF2-40B4-BE49-F238E27FC236}">
                <a16:creationId xmlns:a16="http://schemas.microsoft.com/office/drawing/2014/main" id="{BCC1A818-9CDE-4849-9B67-421AC23C8CFD}"/>
              </a:ext>
            </a:extLst>
          </p:cNvPr>
          <p:cNvGraphicFramePr>
            <a:graphicFrameLocks noGrp="1"/>
          </p:cNvGraphicFramePr>
          <p:nvPr/>
        </p:nvGraphicFramePr>
        <p:xfrm>
          <a:off x="5834063" y="2827338"/>
          <a:ext cx="2286000" cy="49371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deptid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(PK)</a:t>
                      </a:r>
                    </a:p>
                  </a:txBody>
                  <a:tcPr marT="45714" marB="457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dname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budget</a:t>
                      </a: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893" name="Text Box 29">
            <a:extLst>
              <a:ext uri="{FF2B5EF4-FFF2-40B4-BE49-F238E27FC236}">
                <a16:creationId xmlns:a16="http://schemas.microsoft.com/office/drawing/2014/main" id="{B384EF6F-12AA-4076-A247-2B853E247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476500"/>
            <a:ext cx="574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DEPT</a:t>
            </a:r>
          </a:p>
        </p:txBody>
      </p:sp>
      <p:sp>
        <p:nvSpPr>
          <p:cNvPr id="36894" name="Freeform 30">
            <a:extLst>
              <a:ext uri="{FF2B5EF4-FFF2-40B4-BE49-F238E27FC236}">
                <a16:creationId xmlns:a16="http://schemas.microsoft.com/office/drawing/2014/main" id="{6C4CD234-9AE8-4412-A939-9D39CC8A80B2}"/>
              </a:ext>
            </a:extLst>
          </p:cNvPr>
          <p:cNvSpPr>
            <a:spLocks/>
          </p:cNvSpPr>
          <p:nvPr/>
        </p:nvSpPr>
        <p:spPr bwMode="auto">
          <a:xfrm>
            <a:off x="3200400" y="3314700"/>
            <a:ext cx="3086100" cy="571500"/>
          </a:xfrm>
          <a:custGeom>
            <a:avLst/>
            <a:gdLst>
              <a:gd name="T0" fmla="*/ 0 w 1944"/>
              <a:gd name="T1" fmla="*/ 120967509 h 360"/>
              <a:gd name="T2" fmla="*/ 362902508 w 1944"/>
              <a:gd name="T3" fmla="*/ 604837493 h 360"/>
              <a:gd name="T4" fmla="*/ 1693545368 w 1944"/>
              <a:gd name="T5" fmla="*/ 846772610 h 360"/>
              <a:gd name="T6" fmla="*/ 2147483647 w 1944"/>
              <a:gd name="T7" fmla="*/ 846772610 h 360"/>
              <a:gd name="T8" fmla="*/ 2147483647 w 1944"/>
              <a:gd name="T9" fmla="*/ 483870034 h 360"/>
              <a:gd name="T10" fmla="*/ 2147483647 w 1944"/>
              <a:gd name="T11" fmla="*/ 0 h 3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44"/>
              <a:gd name="T19" fmla="*/ 0 h 360"/>
              <a:gd name="T20" fmla="*/ 1944 w 1944"/>
              <a:gd name="T21" fmla="*/ 360 h 3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44" h="360">
                <a:moveTo>
                  <a:pt x="0" y="48"/>
                </a:moveTo>
                <a:cubicBezTo>
                  <a:pt x="16" y="120"/>
                  <a:pt x="32" y="192"/>
                  <a:pt x="144" y="240"/>
                </a:cubicBezTo>
                <a:cubicBezTo>
                  <a:pt x="256" y="288"/>
                  <a:pt x="448" y="320"/>
                  <a:pt x="672" y="336"/>
                </a:cubicBezTo>
                <a:cubicBezTo>
                  <a:pt x="896" y="352"/>
                  <a:pt x="1288" y="360"/>
                  <a:pt x="1488" y="336"/>
                </a:cubicBezTo>
                <a:cubicBezTo>
                  <a:pt x="1688" y="312"/>
                  <a:pt x="1800" y="248"/>
                  <a:pt x="1872" y="192"/>
                </a:cubicBezTo>
                <a:cubicBezTo>
                  <a:pt x="1944" y="136"/>
                  <a:pt x="1932" y="68"/>
                  <a:pt x="192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5" name="Text Box 35">
            <a:extLst>
              <a:ext uri="{FF2B5EF4-FFF2-40B4-BE49-F238E27FC236}">
                <a16:creationId xmlns:a16="http://schemas.microsoft.com/office/drawing/2014/main" id="{B7C27159-E263-43D5-8FFA-5536A89D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3886200"/>
            <a:ext cx="68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2000" b="1">
                <a:solidFill>
                  <a:srgbClr val="6600CC"/>
                </a:solidFill>
              </a:rPr>
              <a:t>참조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22B96540-8BE7-44DB-93F2-C0CFEC92C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1.3 </a:t>
            </a:r>
            <a:r>
              <a:rPr lang="ko-KR" altLang="en-US"/>
              <a:t>기본키와 외래키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1D5B158-202D-4081-AB93-6367E8B27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외래키</a:t>
            </a:r>
            <a:r>
              <a:rPr lang="en-US" altLang="ko-KR"/>
              <a:t>(Foreign key)</a:t>
            </a:r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lvl="1" eaLnBrk="1" hangingPunct="1"/>
            <a:r>
              <a:rPr lang="ko-KR" altLang="en-US">
                <a:solidFill>
                  <a:srgbClr val="000099"/>
                </a:solidFill>
              </a:rPr>
              <a:t>제한</a:t>
            </a:r>
            <a:r>
              <a:rPr lang="en-US" altLang="ko-KR">
                <a:solidFill>
                  <a:srgbClr val="000099"/>
                </a:solidFill>
              </a:rPr>
              <a:t>(restrict)</a:t>
            </a:r>
          </a:p>
          <a:p>
            <a:pPr lvl="2" eaLnBrk="1" hangingPunct="1"/>
            <a:r>
              <a:rPr lang="ko-KR" altLang="en-US"/>
              <a:t>삭제하려는 튜플의 부서번호 값을 사원 테이블에서 가지고 있는 튜플이 있으므로 삭제 연산을 거절</a:t>
            </a:r>
          </a:p>
          <a:p>
            <a:pPr lvl="1" eaLnBrk="1" hangingPunct="1"/>
            <a:r>
              <a:rPr lang="ko-KR" altLang="en-US">
                <a:solidFill>
                  <a:srgbClr val="000099"/>
                </a:solidFill>
              </a:rPr>
              <a:t>연쇄</a:t>
            </a:r>
            <a:r>
              <a:rPr lang="en-US" altLang="ko-KR">
                <a:solidFill>
                  <a:srgbClr val="000099"/>
                </a:solidFill>
              </a:rPr>
              <a:t>(cascade)</a:t>
            </a:r>
          </a:p>
          <a:p>
            <a:pPr lvl="2" eaLnBrk="1" hangingPunct="1"/>
            <a:r>
              <a:rPr lang="ko-KR" altLang="en-US"/>
              <a:t>삭제된 부서번호 값을 갖는 사원 테이블의 튜플도 함께 삭제</a:t>
            </a:r>
          </a:p>
          <a:p>
            <a:pPr lvl="1" eaLnBrk="1" hangingPunct="1"/>
            <a:r>
              <a:rPr lang="ko-KR" altLang="en-US">
                <a:solidFill>
                  <a:srgbClr val="000099"/>
                </a:solidFill>
              </a:rPr>
              <a:t>널값으로 대체</a:t>
            </a:r>
            <a:r>
              <a:rPr lang="en-US" altLang="ko-KR">
                <a:solidFill>
                  <a:srgbClr val="000099"/>
                </a:solidFill>
              </a:rPr>
              <a:t>(nullify)</a:t>
            </a:r>
          </a:p>
          <a:p>
            <a:pPr lvl="2" eaLnBrk="1" hangingPunct="1"/>
            <a:r>
              <a:rPr lang="ko-KR" altLang="en-US"/>
              <a:t>삭제연산을 수행한 뒤 삭제된 부서번호 값을 갖는 사원 테이블의 튜플에서 부서번호를 </a:t>
            </a:r>
            <a:r>
              <a:rPr lang="en-US" altLang="ko-KR"/>
              <a:t>null </a:t>
            </a:r>
            <a:r>
              <a:rPr lang="ko-KR" altLang="en-US"/>
              <a:t>값으로 대체</a:t>
            </a:r>
          </a:p>
          <a:p>
            <a:pPr eaLnBrk="1" hangingPunct="1"/>
            <a:endParaRPr lang="en-US" altLang="ko-KR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B54C7C77-19E6-45F8-BBE9-A312D845F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86000"/>
            <a:ext cx="7391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800"/>
              <a:t>부서 테이블의 첫번째 튜플을 삭제하려 할 때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3EABC95C-5F5E-42BE-A06D-C98B6DFC9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438" y="5516563"/>
            <a:ext cx="77882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>
                <a:solidFill>
                  <a:srgbClr val="6600CC"/>
                </a:solidFill>
              </a:rPr>
              <a:t>* </a:t>
            </a:r>
            <a:r>
              <a:rPr lang="ko-KR" altLang="en-US" sz="1600" b="1">
                <a:solidFill>
                  <a:srgbClr val="6600CC"/>
                </a:solidFill>
              </a:rPr>
              <a:t>외래키를 통해 두 테이블간의 데이터 무결성을 유지하는 것을 </a:t>
            </a:r>
            <a:r>
              <a:rPr lang="ko-KR" altLang="en-US" sz="1600" b="1">
                <a:solidFill>
                  <a:srgbClr val="6600CC"/>
                </a:solidFill>
                <a:latin typeface="Times New Roman" panose="02020603050405020304" pitchFamily="18" charset="0"/>
              </a:rPr>
              <a:t>‘</a:t>
            </a:r>
            <a:r>
              <a:rPr lang="ko-KR" altLang="en-US" sz="1600" b="1">
                <a:solidFill>
                  <a:srgbClr val="6600CC"/>
                </a:solidFill>
              </a:rPr>
              <a:t>참조 무결성 제약조건</a:t>
            </a:r>
            <a:r>
              <a:rPr lang="ko-KR" altLang="en-US" sz="1600" b="1">
                <a:solidFill>
                  <a:srgbClr val="6600CC"/>
                </a:solidFill>
                <a:latin typeface="Times New Roman" panose="02020603050405020304" pitchFamily="18" charset="0"/>
              </a:rPr>
              <a:t>’</a:t>
            </a:r>
            <a:r>
              <a:rPr lang="ko-KR" altLang="en-US" sz="1600" b="1">
                <a:solidFill>
                  <a:srgbClr val="6600CC"/>
                </a:solidFill>
              </a:rPr>
              <a:t>이라고 함</a:t>
            </a:r>
            <a:endParaRPr lang="en-US" altLang="ko-KR" sz="1600" b="1">
              <a:solidFill>
                <a:srgbClr val="6600CC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096ECE80-1819-46A9-A05F-5A4AA475E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1.4 </a:t>
            </a:r>
            <a:r>
              <a:rPr lang="ko-KR" altLang="en-US"/>
              <a:t>뷰</a:t>
            </a:r>
            <a:r>
              <a:rPr lang="en-US" altLang="ko-KR"/>
              <a:t>(view)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A75CAA7-932A-45A6-98BA-687B23EA8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뷰의 필요성</a:t>
            </a:r>
          </a:p>
          <a:p>
            <a:pPr lvl="1" eaLnBrk="1" hangingPunct="1"/>
            <a:r>
              <a:rPr lang="ko-KR" altLang="en-US"/>
              <a:t>하나의 테이블</a:t>
            </a:r>
            <a:r>
              <a:rPr lang="en-US" altLang="ko-KR"/>
              <a:t>, </a:t>
            </a:r>
            <a:r>
              <a:rPr lang="ko-KR" altLang="en-US"/>
              <a:t>혹은 여러 테이블에 대하여 특정 사용자나 조직의 관점에서 데이터를 바라볼 수 있도록 해주는 수단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endParaRPr lang="en-US" altLang="ko-KR"/>
          </a:p>
        </p:txBody>
      </p:sp>
      <p:sp>
        <p:nvSpPr>
          <p:cNvPr id="38916" name="Oval 4">
            <a:extLst>
              <a:ext uri="{FF2B5EF4-FFF2-40B4-BE49-F238E27FC236}">
                <a16:creationId xmlns:a16="http://schemas.microsoft.com/office/drawing/2014/main" id="{F6531A19-F65C-48DA-A012-1CF3503A0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0" y="3352800"/>
            <a:ext cx="21336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800" b="1"/>
              <a:t>사원정보</a:t>
            </a: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9C900BC9-982B-4FB5-8252-9298018D4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4724400"/>
            <a:ext cx="10668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800" b="1"/>
              <a:t>인사팀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6C00465A-D899-44BA-AFFA-B7D23D491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5334000"/>
            <a:ext cx="2625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>
                <a:latin typeface="굴림" panose="020B0600000101010101" pitchFamily="34" charset="-127"/>
                <a:ea typeface="굴림" panose="020B0600000101010101" pitchFamily="34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사번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이름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입사일자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급여액</a:t>
            </a:r>
            <a:r>
              <a:rPr lang="en-US" altLang="ko-KR" sz="1400">
                <a:latin typeface="굴림" panose="020B0600000101010101" pitchFamily="34" charset="-127"/>
                <a:ea typeface="굴림" panose="020B0600000101010101" pitchFamily="34" charset="-127"/>
              </a:rPr>
              <a:t>)</a:t>
            </a:r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D5A2A032-52FD-46D0-B572-101C07E7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600" y="5105400"/>
            <a:ext cx="10668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800" b="1"/>
              <a:t>기획실</a:t>
            </a:r>
          </a:p>
        </p:txBody>
      </p:sp>
      <p:sp>
        <p:nvSpPr>
          <p:cNvPr id="38920" name="Text Box 8">
            <a:extLst>
              <a:ext uri="{FF2B5EF4-FFF2-40B4-BE49-F238E27FC236}">
                <a16:creationId xmlns:a16="http://schemas.microsoft.com/office/drawing/2014/main" id="{5FEACD76-7D5D-4914-ABCA-50996636F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600" y="5715000"/>
            <a:ext cx="2862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>
                <a:latin typeface="굴림" panose="020B0600000101010101" pitchFamily="34" charset="-127"/>
                <a:ea typeface="굴림" panose="020B0600000101010101" pitchFamily="34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사번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이름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근무부서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담당 업무</a:t>
            </a:r>
            <a:r>
              <a:rPr lang="en-US" altLang="ko-KR" sz="1400">
                <a:latin typeface="굴림" panose="020B0600000101010101" pitchFamily="34" charset="-127"/>
                <a:ea typeface="굴림" panose="020B0600000101010101" pitchFamily="34" charset="-127"/>
              </a:rPr>
              <a:t>)</a:t>
            </a:r>
          </a:p>
        </p:txBody>
      </p:sp>
      <p:sp>
        <p:nvSpPr>
          <p:cNvPr id="38921" name="Rectangle 9">
            <a:extLst>
              <a:ext uri="{FF2B5EF4-FFF2-40B4-BE49-F238E27FC236}">
                <a16:creationId xmlns:a16="http://schemas.microsoft.com/office/drawing/2014/main" id="{C4070535-BC37-43B7-BF18-DEADB7CF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675" y="4724400"/>
            <a:ext cx="1330325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800" b="1"/>
              <a:t>사내복지팀</a:t>
            </a:r>
          </a:p>
        </p:txBody>
      </p:sp>
      <p:sp>
        <p:nvSpPr>
          <p:cNvPr id="38922" name="Text Box 10">
            <a:extLst>
              <a:ext uri="{FF2B5EF4-FFF2-40B4-BE49-F238E27FC236}">
                <a16:creationId xmlns:a16="http://schemas.microsoft.com/office/drawing/2014/main" id="{1BB89F56-4D5C-485F-959D-7B5CCD5B9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675" y="5334000"/>
            <a:ext cx="2447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>
                <a:latin typeface="굴림" panose="020B0600000101010101" pitchFamily="34" charset="-127"/>
                <a:ea typeface="굴림" panose="020B0600000101010101" pitchFamily="34" charset="-127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사번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이름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생년월일</a:t>
            </a:r>
            <a:r>
              <a:rPr lang="en-US" altLang="ko-KR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주소</a:t>
            </a:r>
            <a:r>
              <a:rPr lang="en-US" altLang="ko-KR" sz="1400">
                <a:latin typeface="굴림" panose="020B0600000101010101" pitchFamily="34" charset="-127"/>
                <a:ea typeface="굴림" panose="020B0600000101010101" pitchFamily="34" charset="-127"/>
              </a:rPr>
              <a:t>)</a:t>
            </a:r>
          </a:p>
        </p:txBody>
      </p:sp>
      <p:sp>
        <p:nvSpPr>
          <p:cNvPr id="38923" name="Line 11">
            <a:extLst>
              <a:ext uri="{FF2B5EF4-FFF2-40B4-BE49-F238E27FC236}">
                <a16:creationId xmlns:a16="http://schemas.microsoft.com/office/drawing/2014/main" id="{AE4D21F4-B3D1-490D-BAE6-0C9840E620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810000"/>
            <a:ext cx="1981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4" name="Line 12">
            <a:extLst>
              <a:ext uri="{FF2B5EF4-FFF2-40B4-BE49-F238E27FC236}">
                <a16:creationId xmlns:a16="http://schemas.microsoft.com/office/drawing/2014/main" id="{B8CD3478-2159-4376-8A66-040DFDB86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10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5" name="Line 13">
            <a:extLst>
              <a:ext uri="{FF2B5EF4-FFF2-40B4-BE49-F238E27FC236}">
                <a16:creationId xmlns:a16="http://schemas.microsoft.com/office/drawing/2014/main" id="{E06133EA-3F80-4B36-8F67-DFB083F76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810000"/>
            <a:ext cx="2209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4DC16A12-3F45-4DBB-B0CE-C48003971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1.4 </a:t>
            </a:r>
            <a:r>
              <a:rPr lang="ko-KR" altLang="en-US"/>
              <a:t>뷰</a:t>
            </a:r>
            <a:r>
              <a:rPr lang="en-US" altLang="ko-KR"/>
              <a:t>(view)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33B227E-D0BC-43C2-9C28-C274C3827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뷰의 필요성</a:t>
            </a:r>
          </a:p>
        </p:txBody>
      </p:sp>
      <p:graphicFrame>
        <p:nvGraphicFramePr>
          <p:cNvPr id="132100" name="Group 4">
            <a:extLst>
              <a:ext uri="{FF2B5EF4-FFF2-40B4-BE49-F238E27FC236}">
                <a16:creationId xmlns:a16="http://schemas.microsoft.com/office/drawing/2014/main" id="{236A50D5-6A57-4063-B372-BC79EDDF72EF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2768600"/>
          <a:ext cx="6934200" cy="2032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empid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hire_date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birthday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job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salary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홍성길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2001.2.1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1985.10.12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서울 대림동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특수영업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곽희준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1999.1.1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1984.9.10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안양 용봉동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김동준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생산부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2000.9.1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1986.5.16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부산 대하동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품질관리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성재규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인사부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1997.2.1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1982.4.10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대구 달성동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급여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박성범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구매부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2000.2.1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1986.12.4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광주 금남동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수입자재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005" name="Text Box 69">
            <a:extLst>
              <a:ext uri="{FF2B5EF4-FFF2-40B4-BE49-F238E27FC236}">
                <a16:creationId xmlns:a16="http://schemas.microsoft.com/office/drawing/2014/main" id="{924A42B4-D1EA-42B8-A925-08AB9272D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338" y="2417763"/>
            <a:ext cx="5000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EMP</a:t>
            </a:r>
          </a:p>
        </p:txBody>
      </p:sp>
      <p:sp>
        <p:nvSpPr>
          <p:cNvPr id="40006" name="Rectangle 70">
            <a:extLst>
              <a:ext uri="{FF2B5EF4-FFF2-40B4-BE49-F238E27FC236}">
                <a16:creationId xmlns:a16="http://schemas.microsoft.com/office/drawing/2014/main" id="{FEB3F148-5C93-497E-81C1-16018651E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3" y="5029200"/>
            <a:ext cx="39195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1.16&gt; </a:t>
            </a:r>
            <a:r>
              <a:rPr lang="ko-KR" altLang="en-US" sz="1400" b="1"/>
              <a:t>전체 조직 관점에서의 사원 테이블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B5C47619-38F9-4A18-A879-F55488219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1.4 </a:t>
            </a:r>
            <a:r>
              <a:rPr lang="ko-KR" altLang="en-US"/>
              <a:t>뷰</a:t>
            </a:r>
            <a:r>
              <a:rPr lang="en-US" altLang="ko-KR"/>
              <a:t>(view)</a:t>
            </a:r>
          </a:p>
        </p:txBody>
      </p:sp>
      <p:graphicFrame>
        <p:nvGraphicFramePr>
          <p:cNvPr id="133125" name="Group 5">
            <a:extLst>
              <a:ext uri="{FF2B5EF4-FFF2-40B4-BE49-F238E27FC236}">
                <a16:creationId xmlns:a16="http://schemas.microsoft.com/office/drawing/2014/main" id="{A235BA1D-35D0-43DB-9E99-F752205196C0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1514475"/>
          <a:ext cx="3087688" cy="2032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empid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hire_date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salary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홍성길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2001.2.1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곽희준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1999.1.1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김동준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2000.9.1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성재규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1997.2.1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박성범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2000.2.1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000" name="Text Box 42">
            <a:extLst>
              <a:ext uri="{FF2B5EF4-FFF2-40B4-BE49-F238E27FC236}">
                <a16:creationId xmlns:a16="http://schemas.microsoft.com/office/drawing/2014/main" id="{F34A8FD9-D47A-409A-B4FC-172148B7A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338" y="1163638"/>
            <a:ext cx="1028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VIEW_EMP1</a:t>
            </a:r>
          </a:p>
        </p:txBody>
      </p:sp>
      <p:graphicFrame>
        <p:nvGraphicFramePr>
          <p:cNvPr id="133163" name="Group 43">
            <a:extLst>
              <a:ext uri="{FF2B5EF4-FFF2-40B4-BE49-F238E27FC236}">
                <a16:creationId xmlns:a16="http://schemas.microsoft.com/office/drawing/2014/main" id="{0B4A74D3-8848-41FC-A354-D3BF5EDFEA03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512888"/>
          <a:ext cx="3200400" cy="2032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empid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dept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job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홍성길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특수영업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곽희준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영업관리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김동준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생산부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품질관리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성재규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인사부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급여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박성범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구매부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수입자재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038" name="Text Box 80">
            <a:extLst>
              <a:ext uri="{FF2B5EF4-FFF2-40B4-BE49-F238E27FC236}">
                <a16:creationId xmlns:a16="http://schemas.microsoft.com/office/drawing/2014/main" id="{230F6510-7E7B-45FE-B645-50766349E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0100" y="1182688"/>
            <a:ext cx="1028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VIEW_EMP2</a:t>
            </a:r>
          </a:p>
        </p:txBody>
      </p:sp>
      <p:sp>
        <p:nvSpPr>
          <p:cNvPr id="41039" name="Text Box 81">
            <a:extLst>
              <a:ext uri="{FF2B5EF4-FFF2-40B4-BE49-F238E27FC236}">
                <a16:creationId xmlns:a16="http://schemas.microsoft.com/office/drawing/2014/main" id="{93C2DB35-BD5E-46DA-B0F5-3B867103E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338" y="3754438"/>
            <a:ext cx="1028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>
                <a:latin typeface="굴림" panose="020B0600000101010101" pitchFamily="34" charset="-127"/>
                <a:ea typeface="굴림" panose="020B0600000101010101" pitchFamily="34" charset="-127"/>
              </a:rPr>
              <a:t>VIEW_EMP3</a:t>
            </a:r>
          </a:p>
        </p:txBody>
      </p:sp>
      <p:graphicFrame>
        <p:nvGraphicFramePr>
          <p:cNvPr id="133202" name="Group 82">
            <a:extLst>
              <a:ext uri="{FF2B5EF4-FFF2-40B4-BE49-F238E27FC236}">
                <a16:creationId xmlns:a16="http://schemas.microsoft.com/office/drawing/2014/main" id="{B234D5F1-FADF-472A-9A1F-31B87BF5DBD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4064000"/>
          <a:ext cx="3621088" cy="20320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empid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ename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birthday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Address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홍성길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1985.10.12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서울 대림동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곽희준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1984.9.10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안양 용봉동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김동준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1986.5.16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부산 대하동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성재규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1982.4.10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대구 달성동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박성범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1986.12.4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광주 금남동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077" name="Text Box 119">
            <a:extLst>
              <a:ext uri="{FF2B5EF4-FFF2-40B4-BE49-F238E27FC236}">
                <a16:creationId xmlns:a16="http://schemas.microsoft.com/office/drawing/2014/main" id="{FA81F88E-B93D-4791-9765-820ADE12E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791200"/>
            <a:ext cx="3570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1.17&gt; </a:t>
            </a:r>
            <a:r>
              <a:rPr lang="ko-KR" altLang="en-US" sz="1400" b="1"/>
              <a:t>사원 테이블에 대한 세가지 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C29E8E95-CB0B-4E7C-9815-66ED05EC9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1.4 </a:t>
            </a:r>
            <a:r>
              <a:rPr lang="ko-KR" altLang="en-US"/>
              <a:t>뷰</a:t>
            </a:r>
            <a:r>
              <a:rPr lang="en-US" altLang="ko-KR"/>
              <a:t>(view)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EBCFD88-E4E9-4B7E-8E7A-B809E6A15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뷰의 정의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endParaRPr lang="ko-KR" altLang="en-US"/>
          </a:p>
          <a:p>
            <a:pPr lvl="1" eaLnBrk="1" hangingPunct="1"/>
            <a:endParaRPr lang="ko-KR" altLang="en-US"/>
          </a:p>
          <a:p>
            <a:pPr lvl="1" eaLnBrk="1" hangingPunct="1"/>
            <a:endParaRPr lang="ko-KR" altLang="en-US"/>
          </a:p>
          <a:p>
            <a:pPr lvl="1" eaLnBrk="1" hangingPunct="1"/>
            <a:endParaRPr lang="ko-KR" altLang="en-US"/>
          </a:p>
          <a:p>
            <a:pPr lvl="1" eaLnBrk="1" hangingPunct="1"/>
            <a:r>
              <a:rPr lang="ko-KR" altLang="en-US"/>
              <a:t>뷰에 대한 질의는 뷰가 정의된 기본 테이블에 대한 질의로 바뀌어 실행된다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E8D4AC5C-8ABA-4248-B5ED-854BC2C1F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6400800" cy="1219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800"/>
              <a:t>CREATE VIEW high_salary</a:t>
            </a:r>
          </a:p>
          <a:p>
            <a:pPr eaLnBrk="1" hangingPunct="1"/>
            <a:r>
              <a:rPr lang="en-US" altLang="ko-KR" sz="1800"/>
              <a:t> AS SELECT empid, ename, dept, salary</a:t>
            </a:r>
          </a:p>
          <a:p>
            <a:pPr eaLnBrk="1" hangingPunct="1"/>
            <a:r>
              <a:rPr lang="en-US" altLang="ko-KR" sz="1800"/>
              <a:t>    FROM   emp</a:t>
            </a:r>
          </a:p>
          <a:p>
            <a:pPr eaLnBrk="1" hangingPunct="1"/>
            <a:r>
              <a:rPr lang="en-US" altLang="ko-KR" sz="1800"/>
              <a:t>    WHERE  salary &gt;= 350;</a:t>
            </a:r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40377099-E416-4B1F-8B80-58221DE2B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91000"/>
            <a:ext cx="64008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/>
              <a:t>SELECT empid, ename, salary</a:t>
            </a:r>
          </a:p>
          <a:p>
            <a:pPr eaLnBrk="1" hangingPunct="1"/>
            <a:r>
              <a:rPr lang="en-US" altLang="ko-KR" sz="1600"/>
              <a:t>FROM   high_salary</a:t>
            </a:r>
          </a:p>
          <a:p>
            <a:pPr eaLnBrk="1" hangingPunct="1"/>
            <a:r>
              <a:rPr lang="en-US" altLang="ko-KR" sz="1600"/>
              <a:t>WHERE dept = '</a:t>
            </a:r>
            <a:r>
              <a:rPr lang="ko-KR" altLang="en-US" sz="1600"/>
              <a:t>영업부</a:t>
            </a:r>
            <a:r>
              <a:rPr lang="ko-KR" altLang="en-US" sz="1600">
                <a:latin typeface="Times New Roman" panose="02020603050405020304" pitchFamily="18" charset="0"/>
              </a:rPr>
              <a:t>‘</a:t>
            </a:r>
            <a:r>
              <a:rPr lang="en-US" altLang="ko-KR" sz="1600"/>
              <a:t>;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1903E496-F908-4F94-BE70-EC4A133FF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257800"/>
            <a:ext cx="64008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/>
              <a:t>SELECT empid, ename, salary</a:t>
            </a:r>
          </a:p>
          <a:p>
            <a:pPr eaLnBrk="1" hangingPunct="1"/>
            <a:r>
              <a:rPr lang="en-US" altLang="ko-KR" sz="1600"/>
              <a:t>FROM   </a:t>
            </a:r>
            <a:r>
              <a:rPr lang="en-US" altLang="ko-KR" sz="1600">
                <a:solidFill>
                  <a:srgbClr val="FF0000"/>
                </a:solidFill>
              </a:rPr>
              <a:t>emp</a:t>
            </a:r>
          </a:p>
          <a:p>
            <a:pPr eaLnBrk="1" hangingPunct="1"/>
            <a:r>
              <a:rPr lang="en-US" altLang="ko-KR" sz="1600"/>
              <a:t>WHERE </a:t>
            </a:r>
            <a:r>
              <a:rPr lang="en-US" altLang="ko-KR" sz="1600">
                <a:solidFill>
                  <a:srgbClr val="FF0000"/>
                </a:solidFill>
              </a:rPr>
              <a:t>salary &gt;= 350</a:t>
            </a:r>
          </a:p>
          <a:p>
            <a:pPr eaLnBrk="1" hangingPunct="1"/>
            <a:r>
              <a:rPr lang="en-US" altLang="ko-KR" sz="1600"/>
              <a:t>AND    dept = '</a:t>
            </a:r>
            <a:r>
              <a:rPr lang="ko-KR" altLang="en-US" sz="1600"/>
              <a:t>영업부</a:t>
            </a:r>
            <a:r>
              <a:rPr lang="ko-KR" altLang="en-US" sz="1600">
                <a:latin typeface="Times New Roman" panose="02020603050405020304" pitchFamily="18" charset="0"/>
              </a:rPr>
              <a:t>‘</a:t>
            </a:r>
            <a:r>
              <a:rPr lang="en-US" altLang="ko-KR" sz="1600"/>
              <a:t>;</a:t>
            </a:r>
          </a:p>
        </p:txBody>
      </p:sp>
      <p:sp>
        <p:nvSpPr>
          <p:cNvPr id="41991" name="Freeform 7">
            <a:extLst>
              <a:ext uri="{FF2B5EF4-FFF2-40B4-BE49-F238E27FC236}">
                <a16:creationId xmlns:a16="http://schemas.microsoft.com/office/drawing/2014/main" id="{DA806E1B-3E1F-42C6-AB5A-38B8A96B73C1}"/>
              </a:ext>
            </a:extLst>
          </p:cNvPr>
          <p:cNvSpPr>
            <a:spLocks/>
          </p:cNvSpPr>
          <p:nvPr/>
        </p:nvSpPr>
        <p:spPr bwMode="auto">
          <a:xfrm>
            <a:off x="520700" y="4572000"/>
            <a:ext cx="622300" cy="1143000"/>
          </a:xfrm>
          <a:custGeom>
            <a:avLst/>
            <a:gdLst>
              <a:gd name="T0" fmla="*/ 866933877 w 392"/>
              <a:gd name="T1" fmla="*/ 0 h 720"/>
              <a:gd name="T2" fmla="*/ 141128756 w 392"/>
              <a:gd name="T3" fmla="*/ 362902476 h 720"/>
              <a:gd name="T4" fmla="*/ 141128756 w 392"/>
              <a:gd name="T5" fmla="*/ 1330642446 h 720"/>
              <a:gd name="T6" fmla="*/ 987901339 w 392"/>
              <a:gd name="T7" fmla="*/ 1814512678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392"/>
              <a:gd name="T13" fmla="*/ 0 h 720"/>
              <a:gd name="T14" fmla="*/ 392 w 392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2" h="720">
                <a:moveTo>
                  <a:pt x="344" y="0"/>
                </a:moveTo>
                <a:cubicBezTo>
                  <a:pt x="224" y="28"/>
                  <a:pt x="104" y="56"/>
                  <a:pt x="56" y="144"/>
                </a:cubicBezTo>
                <a:cubicBezTo>
                  <a:pt x="8" y="232"/>
                  <a:pt x="0" y="432"/>
                  <a:pt x="56" y="528"/>
                </a:cubicBezTo>
                <a:cubicBezTo>
                  <a:pt x="112" y="624"/>
                  <a:pt x="252" y="672"/>
                  <a:pt x="392" y="720"/>
                </a:cubicBezTo>
              </a:path>
            </a:pathLst>
          </a:custGeom>
          <a:noFill/>
          <a:ln w="28575" cmpd="sng">
            <a:solidFill>
              <a:srgbClr val="6600CC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23C3BA52-76B5-47A7-9D86-9C2E8B264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1.4 </a:t>
            </a:r>
            <a:r>
              <a:rPr lang="ko-KR" altLang="en-US"/>
              <a:t>뷰</a:t>
            </a:r>
            <a:r>
              <a:rPr lang="en-US" altLang="ko-KR"/>
              <a:t>(view)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1A05D59-8FA8-41F3-A64C-33CAE5D41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뷰를 사용하는 경우</a:t>
            </a:r>
          </a:p>
          <a:p>
            <a:pPr lvl="1" eaLnBrk="1" hangingPunct="1"/>
            <a:r>
              <a:rPr lang="en-US" altLang="ko-KR"/>
              <a:t>&lt;</a:t>
            </a:r>
            <a:r>
              <a:rPr lang="ko-KR" altLang="en-US"/>
              <a:t>그림 </a:t>
            </a:r>
            <a:r>
              <a:rPr lang="en-US" altLang="ko-KR"/>
              <a:t>1.17&gt;</a:t>
            </a:r>
            <a:r>
              <a:rPr lang="ko-KR" altLang="en-US"/>
              <a:t>의 경우와 같이 하나의 테이블에 대하여 여러 부서에서 서로 다른 관점으로 보기를 원할 때</a:t>
            </a:r>
          </a:p>
          <a:p>
            <a:pPr lvl="1" eaLnBrk="1" hangingPunct="1"/>
            <a:r>
              <a:rPr lang="ko-KR" altLang="en-US"/>
              <a:t>테이블에 급여와 같이 일반 사용자에게는 감추어야 할 컬럼이 있을 때</a:t>
            </a:r>
            <a:r>
              <a:rPr lang="en-US" altLang="ko-KR"/>
              <a:t>,</a:t>
            </a:r>
            <a:r>
              <a:rPr lang="ko-KR" altLang="en-US"/>
              <a:t> 그것을 제외하고 뷰를 만들어 제공함으로써 보안을 유지</a:t>
            </a:r>
            <a:endParaRPr lang="en-US" altLang="ko-KR"/>
          </a:p>
          <a:p>
            <a:pPr lvl="1" eaLnBrk="1" hangingPunct="1"/>
            <a:r>
              <a:rPr lang="ko-KR" altLang="en-US"/>
              <a:t>자주 사용하는 복잡한 질의문을 미리 뷰로 정의하여 두고 간편하게 쓰고자 할 때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7B162F83-3A3F-422A-B603-C15378192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800600"/>
            <a:ext cx="7848600" cy="1143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ko-KR" sz="1800"/>
              <a:t> </a:t>
            </a:r>
            <a:r>
              <a:rPr lang="ko-KR" altLang="en-US" sz="1800"/>
              <a:t>뷰는 물리적인 데이터를 갖지 않음</a:t>
            </a:r>
          </a:p>
          <a:p>
            <a:pPr eaLnBrk="1" hangingPunct="1">
              <a:buFontTx/>
              <a:buChar char="•"/>
            </a:pPr>
            <a:r>
              <a:rPr lang="ko-KR" altLang="en-US" sz="1800"/>
              <a:t> 뷰에 대한 갱신 연산은 경우에 따라 실행될 수도 있고</a:t>
            </a:r>
            <a:r>
              <a:rPr lang="en-US" altLang="ko-KR" sz="1800"/>
              <a:t>,</a:t>
            </a:r>
            <a:r>
              <a:rPr lang="ko-KR" altLang="en-US" sz="1800"/>
              <a:t> 실행되지 않을 수도 있음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A0D79622-8A0F-4BE7-8802-AEB86DEF4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36E8D92-6501-4840-85E6-2E753D99A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SQL </a:t>
            </a:r>
            <a:r>
              <a:rPr lang="ko-KR" altLang="en-US"/>
              <a:t>개요</a:t>
            </a:r>
          </a:p>
          <a:p>
            <a:pPr lvl="1" eaLnBrk="1" hangingPunct="1"/>
            <a:r>
              <a:rPr lang="ko-KR" altLang="en-US"/>
              <a:t>관계형 데이터베이스의 장점중의 하나는 사용자들이 쉽게 사용할 수 있는  </a:t>
            </a:r>
            <a:r>
              <a:rPr lang="en-US" altLang="ko-KR"/>
              <a:t>SQL(Structured Query Language) </a:t>
            </a:r>
            <a:r>
              <a:rPr lang="ko-KR" altLang="en-US"/>
              <a:t>언어를 제공한다는 것</a:t>
            </a:r>
          </a:p>
          <a:p>
            <a:pPr lvl="1" eaLnBrk="1" hangingPunct="1"/>
            <a:r>
              <a:rPr lang="ko-KR" altLang="en-US"/>
              <a:t>사용자는 간단한 </a:t>
            </a:r>
            <a:r>
              <a:rPr lang="en-US" altLang="ko-KR"/>
              <a:t>SQL</a:t>
            </a:r>
            <a:r>
              <a:rPr lang="ko-KR" altLang="en-US"/>
              <a:t>문을 사용하여 </a:t>
            </a:r>
            <a:r>
              <a:rPr lang="en-US" altLang="ko-KR"/>
              <a:t>DBMS</a:t>
            </a:r>
            <a:r>
              <a:rPr lang="ko-KR" altLang="en-US"/>
              <a:t>에게 작업을 요청</a:t>
            </a:r>
          </a:p>
          <a:p>
            <a:pPr lvl="1" eaLnBrk="1" hangingPunct="1"/>
            <a:r>
              <a:rPr lang="ko-KR" altLang="en-US"/>
              <a:t>기본적인 </a:t>
            </a:r>
            <a:r>
              <a:rPr lang="en-US" altLang="ko-KR"/>
              <a:t>SQL</a:t>
            </a:r>
            <a:r>
              <a:rPr lang="ko-KR" altLang="en-US"/>
              <a:t>문들은 표준화되어 있기 때문에 거의 대부분의 </a:t>
            </a:r>
            <a:r>
              <a:rPr lang="en-US" altLang="ko-KR"/>
              <a:t>DBMS </a:t>
            </a:r>
            <a:r>
              <a:rPr lang="ko-KR" altLang="en-US"/>
              <a:t>제품에 동일하게 적용</a:t>
            </a:r>
          </a:p>
          <a:p>
            <a:pPr lvl="1" eaLnBrk="1" hangingPunct="1"/>
            <a:endParaRPr lang="ko-KR" altLang="en-US"/>
          </a:p>
          <a:p>
            <a:pPr lvl="1" eaLnBrk="1" hangingPunct="1"/>
            <a:r>
              <a:rPr lang="en-US" altLang="ko-KR"/>
              <a:t>SQL</a:t>
            </a:r>
            <a:r>
              <a:rPr lang="ko-KR" altLang="en-US"/>
              <a:t>은 </a:t>
            </a:r>
            <a:r>
              <a:rPr lang="en-US" altLang="ko-KR"/>
              <a:t>1974</a:t>
            </a:r>
            <a:r>
              <a:rPr lang="ko-KR" altLang="en-US"/>
              <a:t>년 </a:t>
            </a:r>
            <a:r>
              <a:rPr lang="en-US" altLang="ko-KR"/>
              <a:t>IBM </a:t>
            </a:r>
            <a:r>
              <a:rPr lang="ko-KR" altLang="en-US"/>
              <a:t>연구소에서 </a:t>
            </a:r>
            <a:r>
              <a:rPr lang="en-US" altLang="ko-KR"/>
              <a:t>System R </a:t>
            </a:r>
            <a:r>
              <a:rPr lang="ko-KR" altLang="en-US"/>
              <a:t>프로젝트를 통해 개발되었고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1986</a:t>
            </a:r>
            <a:r>
              <a:rPr lang="ko-KR" altLang="en-US"/>
              <a:t>년 미국 표준기구 </a:t>
            </a:r>
            <a:r>
              <a:rPr lang="en-US" altLang="ko-KR"/>
              <a:t>ANSI</a:t>
            </a:r>
            <a:r>
              <a:rPr lang="ko-KR" altLang="en-US"/>
              <a:t>에서 </a:t>
            </a:r>
            <a:r>
              <a:rPr lang="en-US" altLang="ko-KR"/>
              <a:t>SQL </a:t>
            </a:r>
            <a:r>
              <a:rPr lang="ko-KR" altLang="en-US"/>
              <a:t>표준을 제정</a:t>
            </a:r>
          </a:p>
          <a:p>
            <a:pPr lvl="1" eaLnBrk="1" hangingPunct="1"/>
            <a:r>
              <a:rPr lang="ko-KR" altLang="en-US"/>
              <a:t> </a:t>
            </a:r>
            <a:r>
              <a:rPr lang="en-US" altLang="ko-KR"/>
              <a:t>SQL </a:t>
            </a:r>
            <a:r>
              <a:rPr lang="ko-KR" altLang="en-US"/>
              <a:t>언어는 비절차적 언어</a:t>
            </a:r>
            <a:r>
              <a:rPr lang="en-US" altLang="ko-KR"/>
              <a:t>(non-procedural language)</a:t>
            </a:r>
          </a:p>
          <a:p>
            <a:pPr lvl="2" eaLnBrk="1" hangingPunct="1"/>
            <a:r>
              <a:rPr lang="ko-KR" altLang="en-US"/>
              <a:t>사용자는 자신이 원하는 바만을 명시하며</a:t>
            </a:r>
            <a:r>
              <a:rPr lang="en-US" altLang="ko-KR"/>
              <a:t>, </a:t>
            </a:r>
            <a:r>
              <a:rPr lang="ko-KR" altLang="en-US"/>
              <a:t>원하는 바를 </a:t>
            </a:r>
            <a:r>
              <a:rPr lang="en-US" altLang="ko-KR"/>
              <a:t>DBMS</a:t>
            </a:r>
            <a:r>
              <a:rPr lang="ko-KR" altLang="en-US"/>
              <a:t>가 어떻게 처리할지는 명시할 필요가 없음</a:t>
            </a:r>
          </a:p>
          <a:p>
            <a:pPr lvl="1" eaLnBrk="1" hangingPunct="1"/>
            <a:endParaRPr lang="en-US" altLang="ko-K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340D90AB-45EE-4727-AEB8-2BEBF8948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9FCD98D-664E-4BD4-BA00-1A9BBEBD0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68413"/>
            <a:ext cx="8534400" cy="4419600"/>
          </a:xfrm>
        </p:spPr>
        <p:txBody>
          <a:bodyPr/>
          <a:lstStyle/>
          <a:p>
            <a:pPr eaLnBrk="1" hangingPunct="1"/>
            <a:r>
              <a:rPr lang="en-US" altLang="ko-KR"/>
              <a:t>SQL </a:t>
            </a:r>
            <a:r>
              <a:rPr lang="ko-KR" altLang="en-US"/>
              <a:t>개요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ko-KR"/>
              <a:t>SQL</a:t>
            </a:r>
            <a:r>
              <a:rPr lang="ko-KR" altLang="en-US"/>
              <a:t>의 두가지 사용 방식</a:t>
            </a:r>
          </a:p>
          <a:p>
            <a:pPr lvl="2" eaLnBrk="1" hangingPunct="1"/>
            <a:r>
              <a:rPr lang="ko-KR" altLang="en-US"/>
              <a:t>대화식 </a:t>
            </a:r>
            <a:r>
              <a:rPr lang="en-US" altLang="ko-KR"/>
              <a:t>SQL : DBMS </a:t>
            </a:r>
            <a:r>
              <a:rPr lang="ko-KR" altLang="en-US"/>
              <a:t>회사에서 제공하는 유틸리티 프로그램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ORACLE</a:t>
            </a:r>
            <a:r>
              <a:rPr lang="ko-KR" altLang="en-US"/>
              <a:t>의 </a:t>
            </a:r>
            <a:r>
              <a:rPr lang="en-US" altLang="ko-KR"/>
              <a:t>SQL*Plus)</a:t>
            </a:r>
            <a:r>
              <a:rPr lang="ko-KR" altLang="en-US"/>
              <a:t>을 이용하여 사용자가 직접 </a:t>
            </a:r>
            <a:r>
              <a:rPr lang="en-US" altLang="ko-KR"/>
              <a:t>SQL</a:t>
            </a:r>
            <a:r>
              <a:rPr lang="ko-KR" altLang="en-US"/>
              <a:t>문을 입력하고 실행결과를 확인하는 방식</a:t>
            </a:r>
          </a:p>
          <a:p>
            <a:pPr lvl="2" eaLnBrk="1" hangingPunct="1"/>
            <a:r>
              <a:rPr lang="ko-KR" altLang="en-US"/>
              <a:t>내장 </a:t>
            </a:r>
            <a:r>
              <a:rPr lang="en-US" altLang="ko-KR"/>
              <a:t>SQL : SQL</a:t>
            </a:r>
            <a:r>
              <a:rPr lang="ko-KR" altLang="en-US"/>
              <a:t>문이 </a:t>
            </a:r>
            <a:r>
              <a:rPr lang="en-US" altLang="ko-KR"/>
              <a:t>C, Java</a:t>
            </a:r>
            <a:r>
              <a:rPr lang="ko-KR" altLang="en-US"/>
              <a:t>와 같은 프로그램 안에 포함되어져서 사용되는 방식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A380AAB7-06CE-4606-9FCA-398D2D645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357563"/>
            <a:ext cx="1295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대화식</a:t>
            </a:r>
          </a:p>
          <a:p>
            <a:pPr algn="ctr" eaLnBrk="1" hangingPunct="1"/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SQL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9E1627CB-9753-4FF2-B3D3-DDEC56D52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357563"/>
            <a:ext cx="1295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호스트언어</a:t>
            </a:r>
          </a:p>
          <a:p>
            <a:pPr algn="ctr" eaLnBrk="1" hangingPunct="1"/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(C,Java,..)</a:t>
            </a:r>
          </a:p>
          <a:p>
            <a:pPr algn="ctr" eaLnBrk="1" hangingPunct="1"/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+</a:t>
            </a:r>
          </a:p>
          <a:p>
            <a:pPr algn="ctr" eaLnBrk="1" hangingPunct="1"/>
            <a:r>
              <a:rPr lang="ko-KR" altLang="en-US" sz="1200">
                <a:latin typeface="Times New Roman" panose="02020603050405020304" pitchFamily="18" charset="0"/>
                <a:ea typeface="굴림" panose="020B0600000101010101" pitchFamily="34" charset="-127"/>
              </a:rPr>
              <a:t>내장</a:t>
            </a:r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SQL</a:t>
            </a:r>
          </a:p>
        </p:txBody>
      </p:sp>
      <p:sp>
        <p:nvSpPr>
          <p:cNvPr id="45062" name="AutoShape 6">
            <a:extLst>
              <a:ext uri="{FF2B5EF4-FFF2-40B4-BE49-F238E27FC236}">
                <a16:creationId xmlns:a16="http://schemas.microsoft.com/office/drawing/2014/main" id="{B7938581-6FFC-4082-92CA-9A4DD023E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729163"/>
            <a:ext cx="1600200" cy="304800"/>
          </a:xfrm>
          <a:prstGeom prst="flowChartPredefined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200">
                <a:latin typeface="Times New Roman" panose="02020603050405020304" pitchFamily="18" charset="0"/>
                <a:ea typeface="굴림" panose="020B0600000101010101" pitchFamily="34" charset="-127"/>
              </a:rPr>
              <a:t>DBMS</a:t>
            </a:r>
          </a:p>
        </p:txBody>
      </p:sp>
      <p:sp>
        <p:nvSpPr>
          <p:cNvPr id="45063" name="AutoShape 7">
            <a:extLst>
              <a:ext uri="{FF2B5EF4-FFF2-40B4-BE49-F238E27FC236}">
                <a16:creationId xmlns:a16="http://schemas.microsoft.com/office/drawing/2014/main" id="{6257FA56-83A1-46E7-B2E8-26330B65F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414963"/>
            <a:ext cx="2286000" cy="533400"/>
          </a:xfrm>
          <a:prstGeom prst="flowChartMagneticDisk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400">
                <a:latin typeface="Times New Roman" panose="02020603050405020304" pitchFamily="18" charset="0"/>
                <a:ea typeface="굴림" panose="020B0600000101010101" pitchFamily="34" charset="-127"/>
              </a:rPr>
              <a:t>Database</a:t>
            </a:r>
          </a:p>
        </p:txBody>
      </p:sp>
      <p:sp>
        <p:nvSpPr>
          <p:cNvPr id="45064" name="Freeform 8">
            <a:extLst>
              <a:ext uri="{FF2B5EF4-FFF2-40B4-BE49-F238E27FC236}">
                <a16:creationId xmlns:a16="http://schemas.microsoft.com/office/drawing/2014/main" id="{6CCA34A1-B16C-4FCB-937B-A4545525A658}"/>
              </a:ext>
            </a:extLst>
          </p:cNvPr>
          <p:cNvSpPr>
            <a:spLocks/>
          </p:cNvSpPr>
          <p:nvPr/>
        </p:nvSpPr>
        <p:spPr bwMode="auto">
          <a:xfrm>
            <a:off x="3657600" y="4271963"/>
            <a:ext cx="1676400" cy="228600"/>
          </a:xfrm>
          <a:custGeom>
            <a:avLst/>
            <a:gdLst>
              <a:gd name="T0" fmla="*/ 0 w 1872"/>
              <a:gd name="T1" fmla="*/ 0 h 144"/>
              <a:gd name="T2" fmla="*/ 0 w 1872"/>
              <a:gd name="T3" fmla="*/ 362902445 h 144"/>
              <a:gd name="T4" fmla="*/ 1501237748 w 1872"/>
              <a:gd name="T5" fmla="*/ 362902445 h 144"/>
              <a:gd name="T6" fmla="*/ 1501237748 w 1872"/>
              <a:gd name="T7" fmla="*/ 0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144"/>
              <a:gd name="T14" fmla="*/ 1872 w 1872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144">
                <a:moveTo>
                  <a:pt x="0" y="0"/>
                </a:moveTo>
                <a:lnTo>
                  <a:pt x="0" y="144"/>
                </a:lnTo>
                <a:lnTo>
                  <a:pt x="1872" y="144"/>
                </a:lnTo>
                <a:lnTo>
                  <a:pt x="187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5" name="Line 9">
            <a:extLst>
              <a:ext uri="{FF2B5EF4-FFF2-40B4-BE49-F238E27FC236}">
                <a16:creationId xmlns:a16="http://schemas.microsoft.com/office/drawing/2014/main" id="{D4EBBE78-B1CE-46F8-B8C9-7479CE6F9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50339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6" name="Line 10">
            <a:extLst>
              <a:ext uri="{FF2B5EF4-FFF2-40B4-BE49-F238E27FC236}">
                <a16:creationId xmlns:a16="http://schemas.microsoft.com/office/drawing/2014/main" id="{3B3644AD-811E-4488-B057-4D2F25EDD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50056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Text Box 11">
            <a:extLst>
              <a:ext uri="{FF2B5EF4-FFF2-40B4-BE49-F238E27FC236}">
                <a16:creationId xmlns:a16="http://schemas.microsoft.com/office/drawing/2014/main" id="{2D59C6D9-7070-4A09-9C0F-55EE9C974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5186363"/>
            <a:ext cx="25082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1.19&gt; SQL</a:t>
            </a:r>
            <a:r>
              <a:rPr lang="ko-KR" altLang="en-US" sz="1400" b="1"/>
              <a:t>을 이용하는</a:t>
            </a:r>
          </a:p>
          <a:p>
            <a:pPr eaLnBrk="1" hangingPunct="1"/>
            <a:r>
              <a:rPr lang="ko-KR" altLang="en-US" sz="1400" b="1"/>
              <a:t>                  두가지 방법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8CE4C664-1B31-4598-B77E-0A514BC4E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9E85F60-7E44-4F2F-BAB9-1BB08E555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SELECT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10E6643-D88A-4BA2-B95A-FB6601847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7086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급여가 </a:t>
            </a:r>
            <a:r>
              <a:rPr lang="en-US" altLang="ko-KR" sz="1600" b="1">
                <a:solidFill>
                  <a:srgbClr val="6600CC"/>
                </a:solidFill>
              </a:rPr>
              <a:t>300</a:t>
            </a:r>
            <a:r>
              <a:rPr lang="ko-KR" altLang="en-US" sz="1600" b="1">
                <a:solidFill>
                  <a:srgbClr val="6600CC"/>
                </a:solidFill>
              </a:rPr>
              <a:t>을 넘고</a:t>
            </a:r>
            <a:r>
              <a:rPr lang="en-US" altLang="ko-KR" sz="1600" b="1">
                <a:solidFill>
                  <a:srgbClr val="6600CC"/>
                </a:solidFill>
              </a:rPr>
              <a:t>,</a:t>
            </a:r>
            <a:r>
              <a:rPr lang="ko-KR" altLang="en-US" sz="1600" b="1">
                <a:solidFill>
                  <a:srgbClr val="6600CC"/>
                </a:solidFill>
              </a:rPr>
              <a:t> 담당업무가 영업관리인 사원의 모든 정보를 보이시오</a:t>
            </a:r>
            <a:r>
              <a:rPr lang="en-US" altLang="ko-KR" sz="1600" b="1">
                <a:solidFill>
                  <a:srgbClr val="6600CC"/>
                </a:solidFill>
              </a:rPr>
              <a:t>.</a:t>
            </a:r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r>
              <a:rPr lang="en-US" altLang="ko-KR" sz="1600" b="1"/>
              <a:t>SELECT * </a:t>
            </a:r>
          </a:p>
          <a:p>
            <a:pPr eaLnBrk="1" hangingPunct="1"/>
            <a:r>
              <a:rPr lang="en-US" altLang="ko-KR" sz="1600" b="1"/>
              <a:t>FROM   emp </a:t>
            </a:r>
          </a:p>
          <a:p>
            <a:pPr eaLnBrk="1" hangingPunct="1"/>
            <a:r>
              <a:rPr lang="en-US" altLang="ko-KR" sz="1600" b="1"/>
              <a:t>WHERE  salary &gt; 300 AND job = '</a:t>
            </a:r>
            <a:r>
              <a:rPr lang="ko-KR" altLang="en-US" sz="1600" b="1"/>
              <a:t>영업관리</a:t>
            </a:r>
            <a:r>
              <a:rPr lang="en-US" altLang="ko-KR" sz="1600" b="1"/>
              <a:t>' ;</a:t>
            </a:r>
          </a:p>
        </p:txBody>
      </p:sp>
      <p:sp>
        <p:nvSpPr>
          <p:cNvPr id="46085" name="Rectangle 6">
            <a:extLst>
              <a:ext uri="{FF2B5EF4-FFF2-40B4-BE49-F238E27FC236}">
                <a16:creationId xmlns:a16="http://schemas.microsoft.com/office/drawing/2014/main" id="{F2B8F1AD-D2EF-4FD5-A64E-F90527286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962400"/>
            <a:ext cx="7086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부서 번호와 그 부서에 속한 사원들의 급여액 합계를 보이시오</a:t>
            </a:r>
            <a:r>
              <a:rPr lang="en-US" altLang="ko-KR" sz="1600" b="1">
                <a:solidFill>
                  <a:srgbClr val="6600CC"/>
                </a:solidFill>
              </a:rPr>
              <a:t>.</a:t>
            </a:r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r>
              <a:rPr lang="en-US" altLang="ko-KR" sz="1600" b="1"/>
              <a:t>SELECT deptid, SUM(salary) </a:t>
            </a:r>
          </a:p>
          <a:p>
            <a:pPr eaLnBrk="1" hangingPunct="1"/>
            <a:r>
              <a:rPr lang="en-US" altLang="ko-KR" sz="1600" b="1"/>
              <a:t>FROM   emp </a:t>
            </a:r>
          </a:p>
          <a:p>
            <a:pPr eaLnBrk="1" hangingPunct="1"/>
            <a:r>
              <a:rPr lang="en-US" altLang="ko-KR" sz="1600" b="1"/>
              <a:t>GROUP BY deptid 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BBA491FA-F7C3-47EC-A1FF-11908E8C7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EED9C3E-3C47-4AF8-A857-2C04B051CF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SELECT</a:t>
            </a:r>
          </a:p>
          <a:p>
            <a:pPr eaLnBrk="1" hangingPunct="1"/>
            <a:endParaRPr lang="en-US" altLang="ko-KR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BC9BCC06-C79B-45F0-AD90-356ACB7B3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7086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모든 사원들의 이름과</a:t>
            </a:r>
            <a:r>
              <a:rPr lang="en-US" altLang="ko-KR" sz="1600" b="1">
                <a:solidFill>
                  <a:srgbClr val="6600CC"/>
                </a:solidFill>
              </a:rPr>
              <a:t>, </a:t>
            </a:r>
            <a:r>
              <a:rPr lang="ko-KR" altLang="en-US" sz="1600" b="1">
                <a:solidFill>
                  <a:srgbClr val="6600CC"/>
                </a:solidFill>
              </a:rPr>
              <a:t>부서이름을 보이시오</a:t>
            </a:r>
            <a:r>
              <a:rPr lang="en-US" altLang="ko-KR" sz="1600" b="1">
                <a:solidFill>
                  <a:srgbClr val="6600CC"/>
                </a:solidFill>
              </a:rPr>
              <a:t>.</a:t>
            </a:r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r>
              <a:rPr lang="en-US" altLang="ko-KR" sz="1600" b="1"/>
              <a:t>SELECT emp.ename, dept.name </a:t>
            </a:r>
          </a:p>
          <a:p>
            <a:pPr eaLnBrk="1" hangingPunct="1"/>
            <a:r>
              <a:rPr lang="en-US" altLang="ko-KR" sz="1600" b="1"/>
              <a:t>FROM   emp, dept </a:t>
            </a:r>
          </a:p>
          <a:p>
            <a:pPr eaLnBrk="1" hangingPunct="1"/>
            <a:r>
              <a:rPr lang="en-US" altLang="ko-KR" sz="1600" b="1"/>
              <a:t>WHERE  emp.deptid = dept.deptid ;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46B3B61D-D03F-4426-B730-9969696E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14800"/>
            <a:ext cx="7086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곽희준 사원이 속한 부서의 예산은 얼마인가</a:t>
            </a:r>
            <a:r>
              <a:rPr lang="en-US" altLang="ko-KR" sz="1600" b="1">
                <a:solidFill>
                  <a:srgbClr val="6600CC"/>
                </a:solidFill>
              </a:rPr>
              <a:t>?</a:t>
            </a:r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r>
              <a:rPr lang="en-US" altLang="ko-KR" sz="1600" b="1"/>
              <a:t>SELECT d.name </a:t>
            </a:r>
          </a:p>
          <a:p>
            <a:pPr eaLnBrk="1" hangingPunct="1"/>
            <a:r>
              <a:rPr lang="en-US" altLang="ko-KR" sz="1600" b="1"/>
              <a:t>FROM   emp e, dept d</a:t>
            </a:r>
          </a:p>
          <a:p>
            <a:pPr eaLnBrk="1" hangingPunct="1"/>
            <a:r>
              <a:rPr lang="en-US" altLang="ko-KR" sz="1600" b="1"/>
              <a:t>WHERE  e.deptid = d.deptid </a:t>
            </a:r>
          </a:p>
          <a:p>
            <a:pPr eaLnBrk="1" hangingPunct="1"/>
            <a:r>
              <a:rPr lang="en-US" altLang="ko-KR" sz="1600" b="1"/>
              <a:t>AND     e.ename = '</a:t>
            </a:r>
            <a:r>
              <a:rPr lang="ko-KR" altLang="en-US" sz="1600" b="1"/>
              <a:t>곽희준</a:t>
            </a:r>
            <a:r>
              <a:rPr lang="en-US" altLang="ko-KR" sz="1600" b="1"/>
              <a:t>';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8BFA2C38-C137-456D-BFBD-7C58B41B6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26977ED-1AC4-43B8-8F6D-C5A61AA82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INSERT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FD6A800A-8D43-459F-811B-D12F8B0DE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70866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INSERT INTO emp (empid, ename, deptid, hire_date, job, salary) </a:t>
            </a:r>
          </a:p>
          <a:p>
            <a:pPr eaLnBrk="1" hangingPunct="1"/>
            <a:r>
              <a:rPr lang="en-US" altLang="ko-KR" sz="1600" b="1"/>
              <a:t>VALUES (106, </a:t>
            </a:r>
            <a:r>
              <a:rPr lang="en-US" altLang="ko-KR" sz="1600" b="1">
                <a:latin typeface="Times New Roman" panose="02020603050405020304" pitchFamily="18" charset="0"/>
              </a:rPr>
              <a:t>‘</a:t>
            </a:r>
            <a:r>
              <a:rPr lang="ko-KR" altLang="en-US" sz="1600" b="1"/>
              <a:t>강윤호</a:t>
            </a:r>
            <a:r>
              <a:rPr lang="ko-KR" altLang="en-US" sz="1600" b="1">
                <a:latin typeface="Times New Roman" panose="02020603050405020304" pitchFamily="18" charset="0"/>
              </a:rPr>
              <a:t>’</a:t>
            </a:r>
            <a:r>
              <a:rPr lang="en-US" altLang="ko-KR" sz="1600" b="1"/>
              <a:t>, 200, </a:t>
            </a:r>
            <a:r>
              <a:rPr lang="en-US" altLang="ko-KR" sz="1600" b="1">
                <a:latin typeface="Times New Roman" panose="02020603050405020304" pitchFamily="18" charset="0"/>
              </a:rPr>
              <a:t>‘</a:t>
            </a:r>
            <a:r>
              <a:rPr lang="en-US" altLang="ko-KR" sz="1600" b="1"/>
              <a:t>2001-01-10</a:t>
            </a:r>
            <a:r>
              <a:rPr lang="en-US" altLang="ko-KR" sz="1600" b="1">
                <a:latin typeface="Times New Roman" panose="02020603050405020304" pitchFamily="18" charset="0"/>
              </a:rPr>
              <a:t>’</a:t>
            </a:r>
            <a:r>
              <a:rPr lang="en-US" altLang="ko-KR" sz="1600" b="1"/>
              <a:t>, </a:t>
            </a:r>
            <a:r>
              <a:rPr lang="en-US" altLang="ko-KR" sz="1600" b="1">
                <a:latin typeface="Times New Roman" panose="02020603050405020304" pitchFamily="18" charset="0"/>
              </a:rPr>
              <a:t>‘</a:t>
            </a:r>
            <a:r>
              <a:rPr lang="ko-KR" altLang="en-US" sz="1600" b="1"/>
              <a:t>연말정산</a:t>
            </a:r>
            <a:r>
              <a:rPr lang="ko-KR" altLang="en-US" sz="1600" b="1">
                <a:latin typeface="Times New Roman" panose="02020603050405020304" pitchFamily="18" charset="0"/>
              </a:rPr>
              <a:t>’</a:t>
            </a:r>
            <a:r>
              <a:rPr lang="en-US" altLang="ko-KR" sz="1600" b="1"/>
              <a:t>, 400);</a:t>
            </a:r>
          </a:p>
          <a:p>
            <a:pPr eaLnBrk="1" hangingPunct="1"/>
            <a:endParaRPr lang="en-US" altLang="ko-KR" sz="1600" b="1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562F2B83-5AD0-438C-9431-D1AE6F1A7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810000"/>
            <a:ext cx="70866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>
                <a:solidFill>
                  <a:srgbClr val="000000"/>
                </a:solidFill>
                <a:ea typeface="타이프,한컴돋움"/>
                <a:cs typeface="타이프,한컴돋움"/>
              </a:rPr>
              <a:t>INSERT INTO emp (empid, ename, salary) </a:t>
            </a:r>
            <a:endParaRPr lang="en-US" altLang="ko-KR" sz="1600" b="1">
              <a:solidFill>
                <a:srgbClr val="000000"/>
              </a:solidFill>
              <a:ea typeface="타이프"/>
              <a:cs typeface="타이프"/>
            </a:endParaRPr>
          </a:p>
          <a:p>
            <a:pPr eaLnBrk="1" hangingPunct="1"/>
            <a:r>
              <a:rPr lang="en-US" altLang="ko-KR" sz="1600" b="1">
                <a:solidFill>
                  <a:srgbClr val="000000"/>
                </a:solidFill>
                <a:ea typeface="타이프,한컴돋움"/>
                <a:cs typeface="타이프,한컴돋움"/>
              </a:rPr>
              <a:t>VALUES (107, </a:t>
            </a:r>
            <a:r>
              <a:rPr lang="en-US" altLang="ko-KR" sz="1600" b="1">
                <a:solidFill>
                  <a:srgbClr val="000000"/>
                </a:solidFill>
                <a:latin typeface="Times New Roman" panose="02020603050405020304" pitchFamily="18" charset="0"/>
                <a:ea typeface="타이프,한컴돋움"/>
                <a:cs typeface="타이프,한컴돋움"/>
              </a:rPr>
              <a:t>‘</a:t>
            </a:r>
            <a:r>
              <a:rPr lang="ko-KR" altLang="en-US" sz="1600" b="1">
                <a:solidFill>
                  <a:srgbClr val="000000"/>
                </a:solidFill>
                <a:ea typeface="타이프,한컴돋움"/>
                <a:cs typeface="타이프,한컴돋움"/>
              </a:rPr>
              <a:t>남진선</a:t>
            </a:r>
            <a:r>
              <a:rPr lang="ko-KR" altLang="en-US" sz="1600" b="1">
                <a:solidFill>
                  <a:srgbClr val="000000"/>
                </a:solidFill>
                <a:latin typeface="Times New Roman" panose="02020603050405020304" pitchFamily="18" charset="0"/>
                <a:ea typeface="타이프,한컴돋움"/>
                <a:cs typeface="타이프,한컴돋움"/>
              </a:rPr>
              <a:t>’</a:t>
            </a:r>
            <a:r>
              <a:rPr lang="en-US" altLang="ko-KR" sz="1600" b="1">
                <a:solidFill>
                  <a:srgbClr val="000000"/>
                </a:solidFill>
                <a:ea typeface="타이프,한컴돋움"/>
                <a:cs typeface="타이프,한컴돋움"/>
              </a:rPr>
              <a:t>, 500);</a:t>
            </a:r>
            <a:r>
              <a:rPr lang="en-US" altLang="ko-KR" sz="1600" b="1">
                <a:solidFill>
                  <a:srgbClr val="000000"/>
                </a:solidFill>
                <a:ea typeface="타이프"/>
                <a:cs typeface="타이프"/>
              </a:rPr>
              <a:t> </a:t>
            </a:r>
            <a:endParaRPr lang="en-US" altLang="ko-KR" sz="1600" b="1"/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B710768E-DBAC-45AF-BB67-0C9F7FBEE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965700"/>
            <a:ext cx="67976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일부 컬럼을 생략하고 튜플을 삽입하는 경우</a:t>
            </a:r>
            <a:r>
              <a:rPr lang="en-US" altLang="ko-KR" sz="1600" b="1">
                <a:solidFill>
                  <a:srgbClr val="6600CC"/>
                </a:solidFill>
              </a:rPr>
              <a:t>, </a:t>
            </a:r>
            <a:r>
              <a:rPr lang="ko-KR" altLang="en-US" sz="1600" b="1">
                <a:solidFill>
                  <a:srgbClr val="6600CC"/>
                </a:solidFill>
              </a:rPr>
              <a:t>생략된 컬럼들의 값은 </a:t>
            </a:r>
            <a:r>
              <a:rPr lang="en-US" altLang="ko-KR" sz="1600" b="1">
                <a:solidFill>
                  <a:srgbClr val="6600CC"/>
                </a:solidFill>
              </a:rPr>
              <a:t>null </a:t>
            </a:r>
            <a:r>
              <a:rPr lang="ko-KR" altLang="en-US" sz="1600" b="1">
                <a:solidFill>
                  <a:srgbClr val="6600CC"/>
                </a:solidFill>
              </a:rPr>
              <a:t>로 저장됨</a:t>
            </a:r>
          </a:p>
          <a:p>
            <a:pPr eaLnBrk="1" hangingPunct="1"/>
            <a:endParaRPr lang="en-US" altLang="ko-KR" sz="1600" b="1">
              <a:solidFill>
                <a:srgbClr val="6600CC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050">
            <a:extLst>
              <a:ext uri="{FF2B5EF4-FFF2-40B4-BE49-F238E27FC236}">
                <a16:creationId xmlns:a16="http://schemas.microsoft.com/office/drawing/2014/main" id="{92FC41AD-16CC-421F-B50D-44FF976DFB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49155" name="Rectangle 2051">
            <a:extLst>
              <a:ext uri="{FF2B5EF4-FFF2-40B4-BE49-F238E27FC236}">
                <a16:creationId xmlns:a16="http://schemas.microsoft.com/office/drawing/2014/main" id="{F4ADAF2A-B28A-4191-881F-46151ADF1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UPDATE.</a:t>
            </a:r>
          </a:p>
        </p:txBody>
      </p:sp>
      <p:sp>
        <p:nvSpPr>
          <p:cNvPr id="49156" name="Rectangle 2052">
            <a:extLst>
              <a:ext uri="{FF2B5EF4-FFF2-40B4-BE49-F238E27FC236}">
                <a16:creationId xmlns:a16="http://schemas.microsoft.com/office/drawing/2014/main" id="{F6C89689-2E53-41A3-ACF5-034ACCDAC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7086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홍성길 사원의 부서번호를 </a:t>
            </a:r>
            <a:r>
              <a:rPr lang="en-US" altLang="ko-KR" sz="1600" b="1">
                <a:solidFill>
                  <a:srgbClr val="6600CC"/>
                </a:solidFill>
              </a:rPr>
              <a:t>400</a:t>
            </a:r>
            <a:r>
              <a:rPr lang="ko-KR" altLang="en-US" sz="1600" b="1">
                <a:solidFill>
                  <a:srgbClr val="6600CC"/>
                </a:solidFill>
              </a:rPr>
              <a:t>으로</a:t>
            </a:r>
            <a:r>
              <a:rPr lang="en-US" altLang="ko-KR" sz="1600" b="1">
                <a:solidFill>
                  <a:srgbClr val="6600CC"/>
                </a:solidFill>
              </a:rPr>
              <a:t>, </a:t>
            </a:r>
            <a:r>
              <a:rPr lang="ko-KR" altLang="en-US" sz="1600" b="1">
                <a:solidFill>
                  <a:srgbClr val="6600CC"/>
                </a:solidFill>
              </a:rPr>
              <a:t>급여를 </a:t>
            </a:r>
            <a:r>
              <a:rPr lang="en-US" altLang="ko-KR" sz="1600" b="1">
                <a:solidFill>
                  <a:srgbClr val="6600CC"/>
                </a:solidFill>
              </a:rPr>
              <a:t>500</a:t>
            </a:r>
            <a:r>
              <a:rPr lang="ko-KR" altLang="en-US" sz="1600" b="1">
                <a:solidFill>
                  <a:srgbClr val="6600CC"/>
                </a:solidFill>
              </a:rPr>
              <a:t>으로 변경하시오</a:t>
            </a:r>
            <a:r>
              <a:rPr lang="en-US" altLang="ko-KR" sz="1600" b="1">
                <a:solidFill>
                  <a:srgbClr val="6600CC"/>
                </a:solidFill>
              </a:rPr>
              <a:t>.</a:t>
            </a:r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endParaRPr lang="ko-KR" altLang="en-US" sz="1600" b="1"/>
          </a:p>
          <a:p>
            <a:pPr eaLnBrk="1" hangingPunct="1"/>
            <a:r>
              <a:rPr lang="en-US" altLang="ko-KR" sz="1600" b="1"/>
              <a:t>UPDATE emp </a:t>
            </a:r>
          </a:p>
          <a:p>
            <a:pPr eaLnBrk="1" hangingPunct="1"/>
            <a:r>
              <a:rPr lang="en-US" altLang="ko-KR" sz="1600" b="1"/>
              <a:t>SET     deptid=400, salary=500 </a:t>
            </a:r>
          </a:p>
          <a:p>
            <a:pPr eaLnBrk="1" hangingPunct="1"/>
            <a:r>
              <a:rPr lang="en-US" altLang="ko-KR" sz="1600" b="1"/>
              <a:t>WHERE   ename='</a:t>
            </a:r>
            <a:r>
              <a:rPr lang="ko-KR" altLang="en-US" sz="1600" b="1"/>
              <a:t>홍성길</a:t>
            </a:r>
            <a:r>
              <a:rPr lang="ko-KR" altLang="en-US" sz="1600" b="1">
                <a:latin typeface="Times New Roman" panose="02020603050405020304" pitchFamily="18" charset="0"/>
              </a:rPr>
              <a:t>‘</a:t>
            </a:r>
            <a:r>
              <a:rPr lang="ko-KR" altLang="en-US" sz="1600" b="1"/>
              <a:t> </a:t>
            </a:r>
            <a:r>
              <a:rPr lang="en-US" altLang="ko-KR" sz="1600" b="1"/>
              <a:t>;</a:t>
            </a:r>
          </a:p>
        </p:txBody>
      </p:sp>
      <p:sp>
        <p:nvSpPr>
          <p:cNvPr id="49157" name="Rectangle 2053">
            <a:extLst>
              <a:ext uri="{FF2B5EF4-FFF2-40B4-BE49-F238E27FC236}">
                <a16:creationId xmlns:a16="http://schemas.microsoft.com/office/drawing/2014/main" id="{693F51CB-0802-4114-AE55-A4CD591CB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962400"/>
            <a:ext cx="70866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영업부에 속한 사원의 급여를 </a:t>
            </a:r>
            <a:r>
              <a:rPr lang="en-US" altLang="ko-KR" sz="1600" b="1">
                <a:solidFill>
                  <a:srgbClr val="6600CC"/>
                </a:solidFill>
              </a:rPr>
              <a:t>20% </a:t>
            </a:r>
            <a:r>
              <a:rPr lang="ko-KR" altLang="en-US" sz="1600" b="1">
                <a:solidFill>
                  <a:srgbClr val="6600CC"/>
                </a:solidFill>
              </a:rPr>
              <a:t>인상하시오</a:t>
            </a:r>
            <a:r>
              <a:rPr lang="en-US" altLang="ko-KR" sz="1600" b="1">
                <a:solidFill>
                  <a:srgbClr val="6600CC"/>
                </a:solidFill>
              </a:rPr>
              <a:t>.</a:t>
            </a:r>
            <a:r>
              <a:rPr lang="ko-KR" altLang="en-US" sz="1600" b="1">
                <a:solidFill>
                  <a:srgbClr val="6600CC"/>
                </a:solidFill>
              </a:rPr>
              <a:t> </a:t>
            </a:r>
          </a:p>
          <a:p>
            <a:pPr eaLnBrk="1" hangingPunct="1"/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r>
              <a:rPr lang="en-US" altLang="ko-KR" sz="1600" b="1"/>
              <a:t>UPDATE emp </a:t>
            </a:r>
          </a:p>
          <a:p>
            <a:pPr eaLnBrk="1" hangingPunct="1"/>
            <a:r>
              <a:rPr lang="en-US" altLang="ko-KR" sz="1600" b="1"/>
              <a:t>SET     salary = salary*1.2  </a:t>
            </a:r>
          </a:p>
          <a:p>
            <a:pPr eaLnBrk="1" hangingPunct="1"/>
            <a:r>
              <a:rPr lang="en-US" altLang="ko-KR" sz="1600" b="1"/>
              <a:t>WHERE   deptid = (SELECT deptid</a:t>
            </a:r>
          </a:p>
          <a:p>
            <a:pPr eaLnBrk="1" hangingPunct="1"/>
            <a:r>
              <a:rPr lang="en-US" altLang="ko-KR" sz="1600" b="1"/>
              <a:t>                     FROM dept</a:t>
            </a:r>
          </a:p>
          <a:p>
            <a:pPr eaLnBrk="1" hangingPunct="1"/>
            <a:r>
              <a:rPr lang="en-US" altLang="ko-KR" sz="1600" b="1"/>
              <a:t>                     WHERE dname = '</a:t>
            </a:r>
            <a:r>
              <a:rPr lang="ko-KR" altLang="en-US" sz="1600" b="1"/>
              <a:t>영업부</a:t>
            </a:r>
            <a:r>
              <a:rPr lang="en-US" altLang="ko-KR" sz="1600" b="1"/>
              <a:t>') 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026">
            <a:extLst>
              <a:ext uri="{FF2B5EF4-FFF2-40B4-BE49-F238E27FC236}">
                <a16:creationId xmlns:a16="http://schemas.microsoft.com/office/drawing/2014/main" id="{BCB0D14E-C8F0-4D2F-80C6-4F2B86833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50179" name="Rectangle 1027">
            <a:extLst>
              <a:ext uri="{FF2B5EF4-FFF2-40B4-BE49-F238E27FC236}">
                <a16:creationId xmlns:a16="http://schemas.microsoft.com/office/drawing/2014/main" id="{19557EFA-EBC6-42F0-87B3-1A7C21932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DELETE</a:t>
            </a:r>
          </a:p>
        </p:txBody>
      </p:sp>
      <p:sp>
        <p:nvSpPr>
          <p:cNvPr id="50180" name="Rectangle 1028">
            <a:extLst>
              <a:ext uri="{FF2B5EF4-FFF2-40B4-BE49-F238E27FC236}">
                <a16:creationId xmlns:a16="http://schemas.microsoft.com/office/drawing/2014/main" id="{43AB0EAF-AE7E-4E08-8F3A-D3FDE073C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62200"/>
            <a:ext cx="7086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홍성길 사원의 정보를 사원정보에서 삭제하시오</a:t>
            </a:r>
            <a:r>
              <a:rPr lang="en-US" altLang="ko-KR" sz="1600" b="1">
                <a:solidFill>
                  <a:srgbClr val="6600CC"/>
                </a:solidFill>
              </a:rPr>
              <a:t>.</a:t>
            </a:r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r>
              <a:rPr lang="en-US" altLang="ko-KR" sz="1600" b="1"/>
              <a:t>DELETE  FROM  emp </a:t>
            </a:r>
          </a:p>
          <a:p>
            <a:pPr eaLnBrk="1" hangingPunct="1"/>
            <a:r>
              <a:rPr lang="en-US" altLang="ko-KR" sz="1600" b="1"/>
              <a:t>WHERE   ename='</a:t>
            </a:r>
            <a:r>
              <a:rPr lang="ko-KR" altLang="en-US" sz="1600" b="1"/>
              <a:t>홍성길</a:t>
            </a:r>
            <a:r>
              <a:rPr lang="ko-KR" altLang="en-US" sz="1600" b="1">
                <a:latin typeface="Times New Roman" panose="02020603050405020304" pitchFamily="18" charset="0"/>
              </a:rPr>
              <a:t>‘</a:t>
            </a:r>
            <a:r>
              <a:rPr lang="ko-KR" altLang="en-US" sz="1600" b="1"/>
              <a:t> </a:t>
            </a:r>
            <a:r>
              <a:rPr lang="en-US" altLang="ko-KR" sz="1600" b="1"/>
              <a:t>;</a:t>
            </a:r>
          </a:p>
        </p:txBody>
      </p:sp>
      <p:sp>
        <p:nvSpPr>
          <p:cNvPr id="50181" name="Rectangle 1029">
            <a:extLst>
              <a:ext uri="{FF2B5EF4-FFF2-40B4-BE49-F238E27FC236}">
                <a16:creationId xmlns:a16="http://schemas.microsoft.com/office/drawing/2014/main" id="{DEEE4A77-D3E2-4928-9EFC-5C4EB5EFE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038600"/>
            <a:ext cx="7086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600" b="1">
                <a:solidFill>
                  <a:srgbClr val="6600CC"/>
                </a:solidFill>
              </a:rPr>
              <a:t>모든 사원의 정보를 사원정보에서 삭제하시오</a:t>
            </a:r>
            <a:r>
              <a:rPr lang="en-US" altLang="ko-KR" sz="1600" b="1">
                <a:solidFill>
                  <a:srgbClr val="6600CC"/>
                </a:solidFill>
              </a:rPr>
              <a:t>.</a:t>
            </a:r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endParaRPr lang="ko-KR" altLang="en-US" sz="1600" b="1">
              <a:solidFill>
                <a:srgbClr val="6600CC"/>
              </a:solidFill>
            </a:endParaRPr>
          </a:p>
          <a:p>
            <a:pPr eaLnBrk="1" hangingPunct="1"/>
            <a:r>
              <a:rPr lang="en-US" altLang="ko-KR" sz="1600" b="1"/>
              <a:t>DELETE  FROM  emp ;</a:t>
            </a:r>
          </a:p>
          <a:p>
            <a:pPr eaLnBrk="1" hangingPunct="1"/>
            <a:endParaRPr lang="en-US" altLang="ko-KR" sz="1600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47F7B027-A303-4893-A7DE-4823E8BA9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1.5 SQL </a:t>
            </a:r>
            <a:r>
              <a:rPr lang="ko-KR" altLang="en-US"/>
              <a:t>언어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54E9322-160B-4FF6-9D78-3F01779FB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CREATE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132124F0-4C03-46A4-9F69-720CF31DD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133600"/>
            <a:ext cx="7086600" cy="426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CREATE  TABLE  emp</a:t>
            </a:r>
          </a:p>
          <a:p>
            <a:pPr eaLnBrk="1" hangingPunct="1"/>
            <a:r>
              <a:rPr lang="en-US" altLang="ko-KR" sz="1600" b="1"/>
              <a:t>( deptid int(10) NOT NULL, </a:t>
            </a:r>
          </a:p>
          <a:p>
            <a:pPr eaLnBrk="1" hangingPunct="1"/>
            <a:r>
              <a:rPr lang="en-US" altLang="ko-KR" sz="1600" b="1"/>
              <a:t>  dname char(20), </a:t>
            </a:r>
          </a:p>
          <a:p>
            <a:pPr eaLnBrk="1" hangingPunct="1"/>
            <a:r>
              <a:rPr lang="en-US" altLang="ko-KR" sz="1600" b="1"/>
              <a:t>  budget char(5), </a:t>
            </a:r>
          </a:p>
          <a:p>
            <a:pPr eaLnBrk="1" hangingPunct="1"/>
            <a:r>
              <a:rPr lang="en-US" altLang="ko-KR" sz="1600" b="1"/>
              <a:t>  PRIMARY KEY(deptid)</a:t>
            </a:r>
          </a:p>
          <a:p>
            <a:pPr eaLnBrk="1" hangingPunct="1"/>
            <a:r>
              <a:rPr lang="en-US" altLang="ko-KR" sz="1600" b="1"/>
              <a:t>);</a:t>
            </a:r>
          </a:p>
          <a:p>
            <a:pPr eaLnBrk="1" hangingPunct="1"/>
            <a:endParaRPr lang="en-US" altLang="ko-KR" sz="1600" b="1"/>
          </a:p>
          <a:p>
            <a:pPr eaLnBrk="1" hangingPunct="1"/>
            <a:r>
              <a:rPr lang="en-US" altLang="ko-KR" sz="1600" b="1"/>
              <a:t>CREATE  TABLE  emp</a:t>
            </a:r>
          </a:p>
          <a:p>
            <a:pPr eaLnBrk="1" hangingPunct="1"/>
            <a:r>
              <a:rPr lang="en-US" altLang="ko-KR" sz="1600" b="1"/>
              <a:t>( empid int(10) NOT NULL, </a:t>
            </a:r>
          </a:p>
          <a:p>
            <a:pPr eaLnBrk="1" hangingPunct="1"/>
            <a:r>
              <a:rPr lang="en-US" altLang="ko-KR" sz="1600" b="1"/>
              <a:t>  ename char(20), </a:t>
            </a:r>
          </a:p>
          <a:p>
            <a:pPr eaLnBrk="1" hangingPunct="1"/>
            <a:r>
              <a:rPr lang="en-US" altLang="ko-KR" sz="1600" b="1"/>
              <a:t>  deptid int(5), </a:t>
            </a:r>
          </a:p>
          <a:p>
            <a:pPr eaLnBrk="1" hangingPunct="1"/>
            <a:r>
              <a:rPr lang="en-US" altLang="ko-KR" sz="1600" b="1"/>
              <a:t>  hire_date date, </a:t>
            </a:r>
          </a:p>
          <a:p>
            <a:pPr eaLnBrk="1" hangingPunct="1"/>
            <a:r>
              <a:rPr lang="en-US" altLang="ko-KR" sz="1600" b="1"/>
              <a:t>  job char(20), </a:t>
            </a:r>
          </a:p>
          <a:p>
            <a:pPr eaLnBrk="1" hangingPunct="1"/>
            <a:r>
              <a:rPr lang="en-US" altLang="ko-KR" sz="1600" b="1"/>
              <a:t>  salary int(10) NOT NULL,</a:t>
            </a:r>
          </a:p>
          <a:p>
            <a:pPr eaLnBrk="1" hangingPunct="1"/>
            <a:r>
              <a:rPr lang="en-US" altLang="ko-KR" sz="1600" b="1"/>
              <a:t>  PRIMARY KEY(empid),</a:t>
            </a:r>
          </a:p>
          <a:p>
            <a:pPr eaLnBrk="1" hangingPunct="1"/>
            <a:r>
              <a:rPr lang="en-US" altLang="ko-KR" sz="1600" b="1"/>
              <a:t>  FOREIGN KEY (deptid) REFERENCES dept(deptid)) 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3242</Words>
  <Application>Microsoft Office PowerPoint</Application>
  <PresentationFormat>On-screen Show (4:3)</PresentationFormat>
  <Paragraphs>811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돋움</vt:lpstr>
      <vt:lpstr>Arial</vt:lpstr>
      <vt:lpstr>굴림</vt:lpstr>
      <vt:lpstr>Wingdings</vt:lpstr>
      <vt:lpstr>Symbol</vt:lpstr>
      <vt:lpstr>Times New Roman</vt:lpstr>
      <vt:lpstr>Wingdings 2</vt:lpstr>
      <vt:lpstr>타이프,한컴돋움</vt:lpstr>
      <vt:lpstr>타이프</vt:lpstr>
      <vt:lpstr>기본 디자인</vt:lpstr>
      <vt:lpstr>Bitmap Image</vt:lpstr>
      <vt:lpstr>1장. 관계형 데이터베이스의  주요 개념</vt:lpstr>
      <vt:lpstr>PowerPoint Presentation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1.2 관계형 데이터베이스 용어</vt:lpstr>
      <vt:lpstr>1.2 관계형 데이터베이스 용어</vt:lpstr>
      <vt:lpstr>1.2 관계형 데이터베이스 용어</vt:lpstr>
      <vt:lpstr>1.2 관계형 데이터베이스 용어</vt:lpstr>
      <vt:lpstr>1.2 관계형 데이터베이스 용어</vt:lpstr>
      <vt:lpstr>1.3 기본키와 외래키</vt:lpstr>
      <vt:lpstr>1.3 기본키와 외래키</vt:lpstr>
      <vt:lpstr>1.3 기본키와 외래키</vt:lpstr>
      <vt:lpstr>1.3 기본키와 외래키</vt:lpstr>
      <vt:lpstr>1.3 기본키와 외래키</vt:lpstr>
      <vt:lpstr>1.3 기본키와 외래키</vt:lpstr>
      <vt:lpstr>1.3 기본키와 외래키</vt:lpstr>
      <vt:lpstr>1.3 기본키와 외래키</vt:lpstr>
      <vt:lpstr>1.3 기본키와 외래키</vt:lpstr>
      <vt:lpstr>1.3 기본키와 외래키</vt:lpstr>
      <vt:lpstr>1.4 뷰(view)</vt:lpstr>
      <vt:lpstr>1.4 뷰(view)</vt:lpstr>
      <vt:lpstr>1.4 뷰(view)</vt:lpstr>
      <vt:lpstr>1.4 뷰(view)</vt:lpstr>
      <vt:lpstr>1.4 뷰(view)</vt:lpstr>
      <vt:lpstr>1.5 SQL 언어</vt:lpstr>
      <vt:lpstr>1.5 SQL 언어</vt:lpstr>
      <vt:lpstr>1.5 SQL 언어</vt:lpstr>
      <vt:lpstr>1.5 SQL 언어</vt:lpstr>
      <vt:lpstr>1.5 SQL 언어</vt:lpstr>
      <vt:lpstr>1.5 SQL 언어</vt:lpstr>
      <vt:lpstr>1.5 SQL 언어</vt:lpstr>
      <vt:lpstr>1.5 SQL 언어</vt:lpstr>
    </vt:vector>
  </TitlesOfParts>
  <Company>Dankook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정보환경</dc:title>
  <dc:creator>SEJONG</dc:creator>
  <cp:lastModifiedBy>app</cp:lastModifiedBy>
  <cp:revision>158</cp:revision>
  <dcterms:created xsi:type="dcterms:W3CDTF">2003-08-27T03:33:37Z</dcterms:created>
  <dcterms:modified xsi:type="dcterms:W3CDTF">2025-09-18T07:04:25Z</dcterms:modified>
</cp:coreProperties>
</file>